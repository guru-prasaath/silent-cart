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FreshBasket asked a simple question: which loyalty members are about to stop shopping, and what should we do about it? Today they send the same offers to everyone. In the next 12 minutes I'll show four things: that the churn number management sees mixes two very different problems; the warning signs that appear about two months before a member leaves; a model that catches about three in four at-risk members on a quarter it never saw; and a targeted retention playbook that turns today's loss-making blanket coupon into a positive return.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story on one slide. First, 80% of members labelled as churned had already gone quiet for three months or more before the label window started; that is win-back, not prediction. Second, among members still shopping, the model catches 76% of the ones who leave, with 70% precision, against a base rate under 10%. Third, support experience is a strong lever: members with three or more tickets churn at nearly ten times the rate of members with none. And fourth, targeting changes the economics: the playbook returns about +$3.6k on this cohort where the blanket coupon loses $15.4k. My recommendation is at the bottom; I'll come back to it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modelling I audited the three tables; all 28 checks are logged in a CSV. Six findings matter. The real header is on row two. There are duplicate rows, including two pairs where the same customer-month appears with positive and negative spend. 55 spend values are corrupted; because spend equals transactions times basket for 99.8% of rows, I could repair them exactly instead of deleting months. Missing months are data loss, not inactivity. The most important finding is on the right: three columns in the label table are computed using April to June, the very period we predict. Using them would quietly inflate performance, so they're excluded, and a unit test enforces that features never see the future.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changed how I framed the whole project. Churn probability is a cliff in recency: a member who bought last month churns at about 3%; miss one month and it's 38%; miss two and it's 81%; beyond that it's essentially 100%. So the official churn rate of 34% mixes 653 members who were already gone with 1,715 active members who churn at under 10%. That matters for management, because the KPI overstates what retention can influence. It matters for data science too: any model looks brilliant on the lapsed group. So from here on I report every result for active members separately.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 lined up every active member on their last purchase before April and looked backwards. Retained members, in blue, are flat. Churners, in orange, show the same sequence every time: transactions, app sessions and email opens fade over roughly two months, while support tickets spike. That gives us a concrete intervention window, and simple triggers a CRM team can use without any model: a 40% drop in spend, app use falling below one session every two months, or a formal complaint. All of these are statistically significant after correcting for multiple tests.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 asked whether tier, marketing engagement or support experience affect churn. The answer is yes, yes, and surprisingly no. Support friction is the clearest operational lever: three or more tickets takes churn from 4% to 37%. Engagement, meaning app sessions and email opens, sits among the top three SHAP drivers in both the logistic and the gradient-boosting model. And membership tier makes no difference: Platinum members leave at the same rate as Silver. The current perks are not buying loyalty, which I'll come back to in the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splits flatter churn models because the future leaks into training. Instead I replayed the churn definition at earlier cut-offs: July and October 2023 for training, January 2024 for model selection, calibration and the threshold, and the official April to June label only once, at the end. Features only look at the six months before each cut-off. Class imbalance is handled with weights, then the scores are calibrated so a 30% really means 30%; that matters for the money maths. Everything is tracked in MLflow, and the feature pipeline also exists in PySpark, verified identical, so it can run on Databricks.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active members, the recency rule reaches a PR-AUC of 0.46. All three machine-learning models roughly double it, to around 0.8, on a quarter they never saw. Logistic regression won on validation; gradient boosting scores a touch higher on test, but the confidence intervals overlap almost completely, so I deploy the simpler, transparent model and keep boosting as a challenger. At the tuned threshold we flag 179 active members and three out of four real churners are among them. The calibration plot, bottom right, shows the probabilities can be trusted as real odds. I also trained a GRU network on the raw monthly sequences: it scores slightly higher and wins in 97% of bootstrap resamples, so the plan is to shadow-score it for a quarter and promote it if the gain holds: champion and challenger.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score on its own doesn't get used. On the left is the SHAP summary for active members: low recent purchasing, low email and app engagement, and recent support tickets push risk up. On the right is what the store or CRM team actually receives: each member's churn probability plus three plain-English reasons, drawn from that member's own SHAP values and grouped so the three reasons are different. That's the bridge from a model to an action. One caution: SHAP explains the model, not causation; that's why the next step is an experiment, not a guess. And the last mile is automated too: for the priority members an LLM on Groq drafts the actual message or call script from these same three reasons, under guardrails that block invented promo codes, false apologies and any mention of tracking.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 asked whether behavioural, engagement and support features beat demographics alone. The ablation says clearly yes. With only demographics and tier, the model is at the base rate: no better than chance. Adding purchase behaviour jumps it to 0.66, engagement adds another 0.11, and support pushes it to about 0.8. Even with recency removed the model stays near 0.8, so it is reading genuine early-warning signs. By segment, Austin and Columbus run highest and members who joined in 2024 lowest, but these gaps are small next to behaviour, so segments decide which team acts, not who gets targeted.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money. Assumptions are explicit: a ten-dollar coupon cuts a member's churn probability by 15%, a fifteen-dollar service call by 25%, and a member's value is six months of their spend at a 25% margin. The blanket coupon, today's approach, costs about $24k on this cohort and loses money, because most recipients were staying anyway or are already gone. The playbook gives each member at most one action and only when it pays back: about 43 churners prevented for $3.9k, a +$3.6k return. The brief's support-outreach idea works, but only when targeted: calling everyone with tickets loses money, while calling the model-flagged ones makes money. The sensitivity chart shows targeted actions break even at roughly half the assumed effect.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six actions for the next 90 days. Split the churn KPI so management sees what retention can actually influence, and add a 60-day no-purchase trigger. Run the scoring and next-best-action list every month. Treat support as a retention lever and close the loop inside the two-month window. Use free nudges before paid offers. Revisit tier perks, since Platinum isn't buying loyalty. And prove the uplift with a hold-out control group before scaling, because the economics rest on assumptions until we measure them; about 730 flagged members are enough to detect a 15% uplift. Everything I've shown regenerates from one command, the feature pipeline is ported to Spark for Databricks, and there is a Dash retention console where the CRM team can explore members and test their own assumptions. Thank you;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32A"/>
        </a:solidFill>
        <a:effectLst/>
      </p:bgPr>
    </p:bg>
    <p:spTree>
      <p:nvGrpSpPr>
        <p:cNvPr id="1" name=""/>
        <p:cNvGrpSpPr/>
        <p:nvPr/>
      </p:nvGrpSpPr>
      <p:grpSpPr/>
      <p:sp>
        <p:nvSpPr>
          <p:cNvPr id="2" name="TextBox 1"/>
          <p:cNvSpPr txBox="1"/>
          <p:nvPr/>
        </p:nvSpPr>
        <p:spPr>
          <a:xfrm>
            <a:off x="731520" y="1097280"/>
            <a:ext cx="10058400" cy="365760"/>
          </a:xfrm>
          <a:prstGeom prst="rect">
            <a:avLst/>
          </a:prstGeom>
          <a:noFill/>
        </p:spPr>
        <p:txBody>
          <a:bodyPr wrap="square" anchor="t" lIns="0" rIns="0" tIns="0" bIns="0">
            <a:spAutoFit/>
          </a:bodyPr>
          <a:lstStyle/>
          <a:p>
            <a:pPr algn="l"/>
            <a:r>
              <a:rPr sz="1300" b="1" i="0">
                <a:solidFill>
                  <a:srgbClr val="BFE3CF"/>
                </a:solidFill>
                <a:latin typeface="Calibri"/>
              </a:rPr>
              <a:t>SILENT CART  ·  FRESHBASKET LOYALTY CHURN PREDICTION &amp; RETENTION</a:t>
            </a:r>
          </a:p>
        </p:txBody>
      </p:sp>
      <p:sp>
        <p:nvSpPr>
          <p:cNvPr id="3" name="TextBox 2"/>
          <p:cNvSpPr txBox="1"/>
          <p:nvPr/>
        </p:nvSpPr>
        <p:spPr>
          <a:xfrm>
            <a:off x="731520" y="1645920"/>
            <a:ext cx="10515600" cy="2011680"/>
          </a:xfrm>
          <a:prstGeom prst="rect">
            <a:avLst/>
          </a:prstGeom>
          <a:noFill/>
        </p:spPr>
        <p:txBody>
          <a:bodyPr wrap="square" anchor="t" lIns="0" rIns="0" tIns="0" bIns="0">
            <a:spAutoFit/>
          </a:bodyPr>
          <a:lstStyle/>
          <a:p>
            <a:pPr algn="l"/>
            <a:r>
              <a:rPr sz="4400" b="1" i="0">
                <a:solidFill>
                  <a:srgbClr val="FFFFFF"/>
                </a:solidFill>
                <a:latin typeface="Calibri"/>
              </a:rPr>
              <a:t>Most of our churn has already happened.
Here is how to stop the rest.</a:t>
            </a:r>
          </a:p>
        </p:txBody>
      </p:sp>
      <p:sp>
        <p:nvSpPr>
          <p:cNvPr id="4" name="TextBox 3"/>
          <p:cNvSpPr txBox="1"/>
          <p:nvPr/>
        </p:nvSpPr>
        <p:spPr>
          <a:xfrm>
            <a:off x="731520" y="3977639"/>
            <a:ext cx="10058400" cy="822960"/>
          </a:xfrm>
          <a:prstGeom prst="rect">
            <a:avLst/>
          </a:prstGeom>
          <a:noFill/>
        </p:spPr>
        <p:txBody>
          <a:bodyPr wrap="square" anchor="t" lIns="0" rIns="0" tIns="0" bIns="0">
            <a:spAutoFit/>
          </a:bodyPr>
          <a:lstStyle/>
          <a:p>
            <a:pPr algn="l"/>
            <a:r>
              <a:rPr sz="1800" b="0" i="0">
                <a:solidFill>
                  <a:srgbClr val="BFE3CF"/>
                </a:solidFill>
                <a:latin typeface="Calibri"/>
              </a:rPr>
              <a:t>Who is at risk, why, what to do, and what it is worth: from 18 months of loyalty data on 2,600 members</a:t>
            </a:r>
          </a:p>
        </p:txBody>
      </p:sp>
      <p:sp>
        <p:nvSpPr>
          <p:cNvPr id="5" name="TextBox 4"/>
          <p:cNvSpPr txBox="1"/>
          <p:nvPr/>
        </p:nvSpPr>
        <p:spPr>
          <a:xfrm>
            <a:off x="731520" y="5852160"/>
            <a:ext cx="10058400" cy="457200"/>
          </a:xfrm>
          <a:prstGeom prst="rect">
            <a:avLst/>
          </a:prstGeom>
          <a:noFill/>
        </p:spPr>
        <p:txBody>
          <a:bodyPr wrap="square" anchor="t" lIns="0" rIns="0" tIns="0" bIns="0">
            <a:spAutoFit/>
          </a:bodyPr>
          <a:lstStyle/>
          <a:p>
            <a:pPr algn="l"/>
            <a:r>
              <a:rPr sz="1500" b="1" i="0">
                <a:solidFill>
                  <a:srgbClr val="FFFFFF"/>
                </a:solidFill>
                <a:latin typeface="Calibri"/>
              </a:rPr>
              <a:t>Guru Prasaath D</a:t>
            </a:r>
            <a:r>
              <a:rPr sz="1200" b="0" i="0">
                <a:solidFill>
                  <a:srgbClr val="BFE3CF"/>
                </a:solidFill>
                <a:latin typeface="Calibri"/>
              </a:rPr>
              <a:t>   ·   Data Science  ·  Tailwyndz Propel Internship assessment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anchor="t" lIns="0" rIns="0" tIns="0" bIns="0">
            <a:spAutoFit/>
          </a:bodyPr>
          <a:lstStyle/>
          <a:p>
            <a:pPr algn="l"/>
            <a:r>
              <a:rPr sz="1100" b="1" i="0">
                <a:solidFill>
                  <a:srgbClr val="2E7D5B"/>
                </a:solidFill>
                <a:latin typeface="Calibri"/>
              </a:rPr>
              <a:t>EXECUTIVE SUMMARY</a:t>
            </a:r>
          </a:p>
        </p:txBody>
      </p:sp>
      <p:sp>
        <p:nvSpPr>
          <p:cNvPr id="3" name="TextBox 2"/>
          <p:cNvSpPr txBox="1"/>
          <p:nvPr/>
        </p:nvSpPr>
        <p:spPr>
          <a:xfrm>
            <a:off x="548640" y="566928"/>
            <a:ext cx="11064240" cy="868680"/>
          </a:xfrm>
          <a:prstGeom prst="rect">
            <a:avLst/>
          </a:prstGeom>
          <a:noFill/>
        </p:spPr>
        <p:txBody>
          <a:bodyPr wrap="square" anchor="t" lIns="0" rIns="0" tIns="0" bIns="0">
            <a:spAutoFit/>
          </a:bodyPr>
          <a:lstStyle/>
          <a:p>
            <a:pPr algn="l"/>
            <a:r>
              <a:rPr sz="2700" b="1" i="0">
                <a:solidFill>
                  <a:srgbClr val="1B1B1B"/>
                </a:solidFill>
                <a:latin typeface="Calibri"/>
              </a:rPr>
              <a:t>The answer in one slide</a:t>
            </a:r>
          </a:p>
        </p:txBody>
      </p:sp>
      <p:sp>
        <p:nvSpPr>
          <p:cNvPr id="4" name="TextBox 3"/>
          <p:cNvSpPr txBox="1"/>
          <p:nvPr/>
        </p:nvSpPr>
        <p:spPr>
          <a:xfrm>
            <a:off x="548640" y="6446520"/>
            <a:ext cx="5486400" cy="274320"/>
          </a:xfrm>
          <a:prstGeom prst="rect">
            <a:avLst/>
          </a:prstGeom>
          <a:noFill/>
        </p:spPr>
        <p:txBody>
          <a:bodyPr wrap="square" anchor="t" lIns="0" rIns="0" tIns="0" bIns="0">
            <a:spAutoFit/>
          </a:bodyPr>
          <a:lstStyle/>
          <a:p>
            <a:pPr algn="l"/>
            <a:r>
              <a:rPr sz="900" b="0" i="0">
                <a:solidFill>
                  <a:srgbClr val="5F6B66"/>
                </a:solidFill>
                <a:latin typeface="Calibri"/>
              </a:rPr>
              <a:t>Silent Cart  ·  FreshBasket loyalty churn  ·  2</a:t>
            </a:r>
          </a:p>
        </p:txBody>
      </p:sp>
      <p:sp>
        <p:nvSpPr>
          <p:cNvPr id="5" name="Rounded Rectangle 4"/>
          <p:cNvSpPr/>
          <p:nvPr/>
        </p:nvSpPr>
        <p:spPr>
          <a:xfrm>
            <a:off x="548640" y="1691640"/>
            <a:ext cx="2633472" cy="2103120"/>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56232"/>
            <a:ext cx="2176272" cy="685800"/>
          </a:xfrm>
          <a:prstGeom prst="rect">
            <a:avLst/>
          </a:prstGeom>
          <a:noFill/>
        </p:spPr>
        <p:txBody>
          <a:bodyPr wrap="square" anchor="t" lIns="0" rIns="0" tIns="0" bIns="0">
            <a:spAutoFit/>
          </a:bodyPr>
          <a:lstStyle/>
          <a:p>
            <a:pPr algn="l"/>
            <a:r>
              <a:rPr sz="4000" b="1" i="0">
                <a:solidFill>
                  <a:srgbClr val="EB6834"/>
                </a:solidFill>
                <a:latin typeface="Calibri"/>
              </a:rPr>
              <a:t>80%</a:t>
            </a:r>
          </a:p>
        </p:txBody>
      </p:sp>
      <p:sp>
        <p:nvSpPr>
          <p:cNvPr id="7" name="TextBox 6"/>
          <p:cNvSpPr txBox="1"/>
          <p:nvPr/>
        </p:nvSpPr>
        <p:spPr>
          <a:xfrm>
            <a:off x="777240" y="2473960"/>
            <a:ext cx="2176272" cy="1275080"/>
          </a:xfrm>
          <a:prstGeom prst="rect">
            <a:avLst/>
          </a:prstGeom>
          <a:noFill/>
        </p:spPr>
        <p:txBody>
          <a:bodyPr wrap="square" anchor="t" lIns="0" rIns="0" tIns="0" bIns="0">
            <a:spAutoFit/>
          </a:bodyPr>
          <a:lstStyle/>
          <a:p>
            <a:pPr algn="l"/>
            <a:r>
              <a:rPr sz="1200" b="0" i="0">
                <a:solidFill>
                  <a:srgbClr val="5F6B66"/>
                </a:solidFill>
                <a:latin typeface="Calibri"/>
              </a:rPr>
              <a:t>of 'churners' had already stopped buying before April. They need win-back, not prediction</a:t>
            </a:r>
          </a:p>
        </p:txBody>
      </p:sp>
      <p:sp>
        <p:nvSpPr>
          <p:cNvPr id="8" name="Rounded Rectangle 7"/>
          <p:cNvSpPr/>
          <p:nvPr/>
        </p:nvSpPr>
        <p:spPr>
          <a:xfrm>
            <a:off x="3364992" y="1691640"/>
            <a:ext cx="2633472" cy="2103120"/>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93592" y="1856232"/>
            <a:ext cx="2176272" cy="685800"/>
          </a:xfrm>
          <a:prstGeom prst="rect">
            <a:avLst/>
          </a:prstGeom>
          <a:noFill/>
        </p:spPr>
        <p:txBody>
          <a:bodyPr wrap="square" anchor="t" lIns="0" rIns="0" tIns="0" bIns="0">
            <a:spAutoFit/>
          </a:bodyPr>
          <a:lstStyle/>
          <a:p>
            <a:pPr algn="l"/>
            <a:r>
              <a:rPr sz="4000" b="1" i="0">
                <a:solidFill>
                  <a:srgbClr val="2E7D5B"/>
                </a:solidFill>
                <a:latin typeface="Calibri"/>
              </a:rPr>
              <a:t>76%</a:t>
            </a:r>
          </a:p>
        </p:txBody>
      </p:sp>
      <p:sp>
        <p:nvSpPr>
          <p:cNvPr id="10" name="TextBox 9"/>
          <p:cNvSpPr txBox="1"/>
          <p:nvPr/>
        </p:nvSpPr>
        <p:spPr>
          <a:xfrm>
            <a:off x="3593592" y="2473960"/>
            <a:ext cx="2176272" cy="1275080"/>
          </a:xfrm>
          <a:prstGeom prst="rect">
            <a:avLst/>
          </a:prstGeom>
          <a:noFill/>
        </p:spPr>
        <p:txBody>
          <a:bodyPr wrap="square" anchor="t" lIns="0" rIns="0" tIns="0" bIns="0">
            <a:spAutoFit/>
          </a:bodyPr>
          <a:lstStyle/>
          <a:p>
            <a:pPr algn="l"/>
            <a:r>
              <a:rPr sz="1200" b="0" i="0">
                <a:solidFill>
                  <a:srgbClr val="5F6B66"/>
                </a:solidFill>
                <a:latin typeface="Calibri"/>
              </a:rPr>
              <a:t>of at-risk Active members caught at 70% precision, on an unseen quarter (base rate 9.6%)</a:t>
            </a:r>
          </a:p>
        </p:txBody>
      </p:sp>
      <p:sp>
        <p:nvSpPr>
          <p:cNvPr id="11" name="Rounded Rectangle 10"/>
          <p:cNvSpPr/>
          <p:nvPr/>
        </p:nvSpPr>
        <p:spPr>
          <a:xfrm>
            <a:off x="6181344" y="1691640"/>
            <a:ext cx="2633472" cy="2103120"/>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1856232"/>
            <a:ext cx="2176272" cy="685800"/>
          </a:xfrm>
          <a:prstGeom prst="rect">
            <a:avLst/>
          </a:prstGeom>
          <a:noFill/>
        </p:spPr>
        <p:txBody>
          <a:bodyPr wrap="square" anchor="t" lIns="0" rIns="0" tIns="0" bIns="0">
            <a:spAutoFit/>
          </a:bodyPr>
          <a:lstStyle/>
          <a:p>
            <a:pPr algn="l"/>
            <a:r>
              <a:rPr sz="4000" b="1" i="0">
                <a:solidFill>
                  <a:srgbClr val="2E7D5B"/>
                </a:solidFill>
                <a:latin typeface="Calibri"/>
              </a:rPr>
              <a:t>37%</a:t>
            </a:r>
          </a:p>
        </p:txBody>
      </p:sp>
      <p:sp>
        <p:nvSpPr>
          <p:cNvPr id="13" name="TextBox 12"/>
          <p:cNvSpPr txBox="1"/>
          <p:nvPr/>
        </p:nvSpPr>
        <p:spPr>
          <a:xfrm>
            <a:off x="6409944" y="2473960"/>
            <a:ext cx="2176272" cy="1275080"/>
          </a:xfrm>
          <a:prstGeom prst="rect">
            <a:avLst/>
          </a:prstGeom>
          <a:noFill/>
        </p:spPr>
        <p:txBody>
          <a:bodyPr wrap="square" anchor="t" lIns="0" rIns="0" tIns="0" bIns="0">
            <a:spAutoFit/>
          </a:bodyPr>
          <a:lstStyle/>
          <a:p>
            <a:pPr algn="l"/>
            <a:r>
              <a:rPr sz="1200" b="0" i="0">
                <a:solidFill>
                  <a:srgbClr val="5F6B66"/>
                </a:solidFill>
                <a:latin typeface="Calibri"/>
              </a:rPr>
              <a:t>churn for Active members with 3+ support tickets, vs 4% with none</a:t>
            </a:r>
          </a:p>
        </p:txBody>
      </p:sp>
      <p:sp>
        <p:nvSpPr>
          <p:cNvPr id="14" name="Rounded Rectangle 13"/>
          <p:cNvSpPr/>
          <p:nvPr/>
        </p:nvSpPr>
        <p:spPr>
          <a:xfrm>
            <a:off x="8997696" y="1691640"/>
            <a:ext cx="2633472" cy="2103120"/>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26296" y="1856232"/>
            <a:ext cx="2176272" cy="685800"/>
          </a:xfrm>
          <a:prstGeom prst="rect">
            <a:avLst/>
          </a:prstGeom>
          <a:noFill/>
        </p:spPr>
        <p:txBody>
          <a:bodyPr wrap="square" anchor="t" lIns="0" rIns="0" tIns="0" bIns="0">
            <a:spAutoFit/>
          </a:bodyPr>
          <a:lstStyle/>
          <a:p>
            <a:pPr algn="l"/>
            <a:r>
              <a:rPr sz="4000" b="1" i="0">
                <a:solidFill>
                  <a:srgbClr val="2E7D5B"/>
                </a:solidFill>
                <a:latin typeface="Calibri"/>
              </a:rPr>
              <a:t>+$3.6k</a:t>
            </a:r>
          </a:p>
        </p:txBody>
      </p:sp>
      <p:sp>
        <p:nvSpPr>
          <p:cNvPr id="16" name="TextBox 15"/>
          <p:cNvSpPr txBox="1"/>
          <p:nvPr/>
        </p:nvSpPr>
        <p:spPr>
          <a:xfrm>
            <a:off x="9226296" y="2473960"/>
            <a:ext cx="2176272" cy="1275080"/>
          </a:xfrm>
          <a:prstGeom prst="rect">
            <a:avLst/>
          </a:prstGeom>
          <a:noFill/>
        </p:spPr>
        <p:txBody>
          <a:bodyPr wrap="square" anchor="t" lIns="0" rIns="0" tIns="0" bIns="0">
            <a:spAutoFit/>
          </a:bodyPr>
          <a:lstStyle/>
          <a:p>
            <a:pPr algn="l"/>
            <a:r>
              <a:rPr sz="1200" b="0" i="0">
                <a:solidFill>
                  <a:srgbClr val="5F6B66"/>
                </a:solidFill>
                <a:latin typeface="Calibri"/>
              </a:rPr>
              <a:t>net from a next-best-action playbook vs −$15.4k for today's blanket coupon</a:t>
            </a:r>
          </a:p>
        </p:txBody>
      </p:sp>
      <p:sp>
        <p:nvSpPr>
          <p:cNvPr id="17" name="Rounded Rectangle 16"/>
          <p:cNvSpPr/>
          <p:nvPr/>
        </p:nvSpPr>
        <p:spPr>
          <a:xfrm>
            <a:off x="548640" y="4114800"/>
            <a:ext cx="11091672" cy="178308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343400"/>
            <a:ext cx="4572000" cy="274320"/>
          </a:xfrm>
          <a:prstGeom prst="rect">
            <a:avLst/>
          </a:prstGeom>
          <a:noFill/>
        </p:spPr>
        <p:txBody>
          <a:bodyPr wrap="square" anchor="t" lIns="0" rIns="0" tIns="0" bIns="0">
            <a:spAutoFit/>
          </a:bodyPr>
          <a:lstStyle/>
          <a:p>
            <a:pPr algn="l"/>
            <a:r>
              <a:rPr sz="1100" b="1" i="0">
                <a:solidFill>
                  <a:srgbClr val="BFE3CF"/>
                </a:solidFill>
                <a:latin typeface="Calibri"/>
              </a:rPr>
              <a:t>RECOMMENDATION</a:t>
            </a:r>
          </a:p>
        </p:txBody>
      </p:sp>
      <p:sp>
        <p:nvSpPr>
          <p:cNvPr id="19" name="TextBox 18"/>
          <p:cNvSpPr txBox="1"/>
          <p:nvPr/>
        </p:nvSpPr>
        <p:spPr>
          <a:xfrm>
            <a:off x="868680" y="4663440"/>
            <a:ext cx="10515600" cy="1463040"/>
          </a:xfrm>
          <a:prstGeom prst="rect">
            <a:avLst/>
          </a:prstGeom>
          <a:noFill/>
        </p:spPr>
        <p:txBody>
          <a:bodyPr wrap="square" lIns="0" rIns="0" tIns="0" bIns="0">
            <a:spAutoFit/>
          </a:bodyPr>
          <a:lstStyle/>
          <a:p>
            <a:pPr>
              <a:spcAft>
                <a:spcPts val="600"/>
              </a:spcAft>
            </a:pPr>
            <a:r>
              <a:rPr sz="1500" b="0">
                <a:solidFill>
                  <a:srgbClr val="2E7D5B"/>
                </a:solidFill>
                <a:latin typeface="Calibri"/>
              </a:rPr>
              <a:t>•  </a:t>
            </a:r>
            <a:r>
              <a:rPr sz="1500" b="1">
                <a:solidFill>
                  <a:srgbClr val="FFFFFF"/>
                </a:solidFill>
                <a:latin typeface="Calibri"/>
              </a:rPr>
              <a:t>Split the KPI: </a:t>
            </a:r>
            <a:r>
              <a:rPr sz="1500" b="0">
                <a:solidFill>
                  <a:srgbClr val="FFFFFF"/>
                </a:solidFill>
                <a:latin typeface="Calibri"/>
              </a:rPr>
              <a:t>Lapsed (win-back) vs At-risk Active (retention), plus a 60-day no-purchase trigger</a:t>
            </a:r>
          </a:p>
          <a:p>
            <a:pPr>
              <a:spcAft>
                <a:spcPts val="600"/>
              </a:spcAft>
            </a:pPr>
            <a:r>
              <a:rPr sz="1500" b="0">
                <a:solidFill>
                  <a:srgbClr val="2E7D5B"/>
                </a:solidFill>
                <a:latin typeface="Calibri"/>
              </a:rPr>
              <a:t>•  </a:t>
            </a:r>
            <a:r>
              <a:rPr sz="1500" b="1">
                <a:solidFill>
                  <a:srgbClr val="FFFFFF"/>
                </a:solidFill>
                <a:latin typeface="Calibri"/>
              </a:rPr>
              <a:t>Score monthly, act selectively: </a:t>
            </a:r>
            <a:r>
              <a:rPr sz="1500" b="0">
                <a:solidFill>
                  <a:srgbClr val="FFFFFF"/>
                </a:solidFill>
                <a:latin typeface="Calibri"/>
              </a:rPr>
              <a:t>service call, personalised coupon or win-back, chosen per member by expected value</a:t>
            </a:r>
          </a:p>
          <a:p>
            <a:pPr>
              <a:spcAft>
                <a:spcPts val="600"/>
              </a:spcAft>
            </a:pPr>
            <a:r>
              <a:rPr sz="1500" b="0">
                <a:solidFill>
                  <a:srgbClr val="2E7D5B"/>
                </a:solidFill>
                <a:latin typeface="Calibri"/>
              </a:rPr>
              <a:t>•  </a:t>
            </a:r>
            <a:r>
              <a:rPr sz="1500" b="1">
                <a:solidFill>
                  <a:srgbClr val="FFFFFF"/>
                </a:solidFill>
                <a:latin typeface="Calibri"/>
              </a:rPr>
              <a:t>Prove it: </a:t>
            </a:r>
            <a:r>
              <a:rPr sz="1500" b="0">
                <a:solidFill>
                  <a:srgbClr val="FFFFFF"/>
                </a:solidFill>
                <a:latin typeface="Calibri"/>
              </a:rPr>
              <a:t>20% hold-out control group for one quarter before scaling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anchor="t" lIns="0" rIns="0" tIns="0" bIns="0">
            <a:spAutoFit/>
          </a:bodyPr>
          <a:lstStyle/>
          <a:p>
            <a:pPr algn="l"/>
            <a:r>
              <a:rPr sz="1100" b="1" i="0">
                <a:solidFill>
                  <a:srgbClr val="2E7D5B"/>
                </a:solidFill>
                <a:latin typeface="Calibri"/>
              </a:rPr>
              <a:t>DATA QUALITY</a:t>
            </a:r>
          </a:p>
        </p:txBody>
      </p:sp>
      <p:sp>
        <p:nvSpPr>
          <p:cNvPr id="3" name="TextBox 2"/>
          <p:cNvSpPr txBox="1"/>
          <p:nvPr/>
        </p:nvSpPr>
        <p:spPr>
          <a:xfrm>
            <a:off x="548640" y="566928"/>
            <a:ext cx="11064240" cy="868680"/>
          </a:xfrm>
          <a:prstGeom prst="rect">
            <a:avLst/>
          </a:prstGeom>
          <a:noFill/>
        </p:spPr>
        <p:txBody>
          <a:bodyPr wrap="square" anchor="t" lIns="0" rIns="0" tIns="0" bIns="0">
            <a:spAutoFit/>
          </a:bodyPr>
          <a:lstStyle/>
          <a:p>
            <a:pPr algn="l"/>
            <a:r>
              <a:rPr sz="2700" b="1" i="0">
                <a:solidFill>
                  <a:srgbClr val="1B1B1B"/>
                </a:solidFill>
                <a:latin typeface="Calibri"/>
              </a:rPr>
              <a:t>We fixed the data before trusting it, and found the label leaks</a:t>
            </a:r>
          </a:p>
        </p:txBody>
      </p:sp>
      <p:sp>
        <p:nvSpPr>
          <p:cNvPr id="4" name="TextBox 3"/>
          <p:cNvSpPr txBox="1"/>
          <p:nvPr/>
        </p:nvSpPr>
        <p:spPr>
          <a:xfrm>
            <a:off x="548640" y="6446520"/>
            <a:ext cx="5486400" cy="274320"/>
          </a:xfrm>
          <a:prstGeom prst="rect">
            <a:avLst/>
          </a:prstGeom>
          <a:noFill/>
        </p:spPr>
        <p:txBody>
          <a:bodyPr wrap="square" anchor="t" lIns="0" rIns="0" tIns="0" bIns="0">
            <a:spAutoFit/>
          </a:bodyPr>
          <a:lstStyle/>
          <a:p>
            <a:pPr algn="l"/>
            <a:r>
              <a:rPr sz="900" b="0" i="0">
                <a:solidFill>
                  <a:srgbClr val="5F6B66"/>
                </a:solidFill>
                <a:latin typeface="Calibri"/>
              </a:rPr>
              <a:t>Silent Cart  ·  FreshBasket loyalty churn  ·  3</a:t>
            </a:r>
          </a:p>
        </p:txBody>
      </p:sp>
      <p:sp>
        <p:nvSpPr>
          <p:cNvPr id="5" name="Oval 4"/>
          <p:cNvSpPr/>
          <p:nvPr/>
        </p:nvSpPr>
        <p:spPr>
          <a:xfrm>
            <a:off x="548640" y="1636776"/>
            <a:ext cx="384048" cy="384048"/>
          </a:xfrm>
          <a:prstGeom prst="ellipse">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1097280" y="1600200"/>
            <a:ext cx="4754880" cy="292608"/>
          </a:xfrm>
          <a:prstGeom prst="rect">
            <a:avLst/>
          </a:prstGeom>
          <a:noFill/>
        </p:spPr>
        <p:txBody>
          <a:bodyPr wrap="square" anchor="t" lIns="0" rIns="0" tIns="0" bIns="0">
            <a:spAutoFit/>
          </a:bodyPr>
          <a:lstStyle/>
          <a:p>
            <a:pPr algn="l"/>
            <a:r>
              <a:rPr sz="1500" b="1" i="0">
                <a:solidFill>
                  <a:srgbClr val="1B1B1B"/>
                </a:solidFill>
                <a:latin typeface="Calibri"/>
              </a:rPr>
              <a:t>Hidden header row</a:t>
            </a:r>
          </a:p>
        </p:txBody>
      </p:sp>
      <p:sp>
        <p:nvSpPr>
          <p:cNvPr id="7" name="TextBox 6"/>
          <p:cNvSpPr txBox="1"/>
          <p:nvPr/>
        </p:nvSpPr>
        <p:spPr>
          <a:xfrm>
            <a:off x="1097280" y="1901952"/>
            <a:ext cx="4846320" cy="457200"/>
          </a:xfrm>
          <a:prstGeom prst="rect">
            <a:avLst/>
          </a:prstGeom>
          <a:noFill/>
        </p:spPr>
        <p:txBody>
          <a:bodyPr wrap="square" anchor="t" lIns="0" rIns="0" tIns="0" bIns="0">
            <a:spAutoFit/>
          </a:bodyPr>
          <a:lstStyle/>
          <a:p>
            <a:pPr algn="l"/>
            <a:r>
              <a:rPr sz="1200" b="0" i="0">
                <a:solidFill>
                  <a:srgbClr val="5F6B66"/>
                </a:solidFill>
                <a:latin typeface="Calibri"/>
              </a:rPr>
              <a:t>Every sheet has a title banner; a default read silently breaks columns</a:t>
            </a:r>
          </a:p>
        </p:txBody>
      </p:sp>
      <p:sp>
        <p:nvSpPr>
          <p:cNvPr id="8" name="Oval 7"/>
          <p:cNvSpPr/>
          <p:nvPr/>
        </p:nvSpPr>
        <p:spPr>
          <a:xfrm>
            <a:off x="548640" y="2404872"/>
            <a:ext cx="384048" cy="384048"/>
          </a:xfrm>
          <a:prstGeom prst="ellipse">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TextBox 8"/>
          <p:cNvSpPr txBox="1"/>
          <p:nvPr/>
        </p:nvSpPr>
        <p:spPr>
          <a:xfrm>
            <a:off x="1097280" y="2368296"/>
            <a:ext cx="4754880" cy="292608"/>
          </a:xfrm>
          <a:prstGeom prst="rect">
            <a:avLst/>
          </a:prstGeom>
          <a:noFill/>
        </p:spPr>
        <p:txBody>
          <a:bodyPr wrap="square" anchor="t" lIns="0" rIns="0" tIns="0" bIns="0">
            <a:spAutoFit/>
          </a:bodyPr>
          <a:lstStyle/>
          <a:p>
            <a:pPr algn="l"/>
            <a:r>
              <a:rPr sz="1500" b="1" i="0">
                <a:solidFill>
                  <a:srgbClr val="1B1B1B"/>
                </a:solidFill>
                <a:latin typeface="Calibri"/>
              </a:rPr>
              <a:t>Duplicates</a:t>
            </a:r>
          </a:p>
        </p:txBody>
      </p:sp>
      <p:sp>
        <p:nvSpPr>
          <p:cNvPr id="10" name="TextBox 9"/>
          <p:cNvSpPr txBox="1"/>
          <p:nvPr/>
        </p:nvSpPr>
        <p:spPr>
          <a:xfrm>
            <a:off x="1097280" y="2670048"/>
            <a:ext cx="4846320" cy="457200"/>
          </a:xfrm>
          <a:prstGeom prst="rect">
            <a:avLst/>
          </a:prstGeom>
          <a:noFill/>
        </p:spPr>
        <p:txBody>
          <a:bodyPr wrap="square" anchor="t" lIns="0" rIns="0" tIns="0" bIns="0">
            <a:spAutoFit/>
          </a:bodyPr>
          <a:lstStyle/>
          <a:p>
            <a:pPr algn="l"/>
            <a:r>
              <a:rPr sz="1200" b="0" i="0">
                <a:solidFill>
                  <a:srgbClr val="5F6B66"/>
                </a:solidFill>
                <a:latin typeface="Calibri"/>
              </a:rPr>
              <a:t>71 exact duplicates + 2 sign-flipped customer-month conflicts removed</a:t>
            </a:r>
          </a:p>
        </p:txBody>
      </p:sp>
      <p:sp>
        <p:nvSpPr>
          <p:cNvPr id="11" name="Oval 10"/>
          <p:cNvSpPr/>
          <p:nvPr/>
        </p:nvSpPr>
        <p:spPr>
          <a:xfrm>
            <a:off x="548640" y="3172968"/>
            <a:ext cx="384048" cy="384048"/>
          </a:xfrm>
          <a:prstGeom prst="ellipse">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2" name="TextBox 11"/>
          <p:cNvSpPr txBox="1"/>
          <p:nvPr/>
        </p:nvSpPr>
        <p:spPr>
          <a:xfrm>
            <a:off x="1097280" y="3136391"/>
            <a:ext cx="4754880" cy="292608"/>
          </a:xfrm>
          <a:prstGeom prst="rect">
            <a:avLst/>
          </a:prstGeom>
          <a:noFill/>
        </p:spPr>
        <p:txBody>
          <a:bodyPr wrap="square" anchor="t" lIns="0" rIns="0" tIns="0" bIns="0">
            <a:spAutoFit/>
          </a:bodyPr>
          <a:lstStyle/>
          <a:p>
            <a:pPr algn="l"/>
            <a:r>
              <a:rPr sz="1500" b="1" i="0">
                <a:solidFill>
                  <a:srgbClr val="1B1B1B"/>
                </a:solidFill>
                <a:latin typeface="Calibri"/>
              </a:rPr>
              <a:t>Corrupted spend</a:t>
            </a:r>
          </a:p>
        </p:txBody>
      </p:sp>
      <p:sp>
        <p:nvSpPr>
          <p:cNvPr id="13" name="TextBox 12"/>
          <p:cNvSpPr txBox="1"/>
          <p:nvPr/>
        </p:nvSpPr>
        <p:spPr>
          <a:xfrm>
            <a:off x="1097280" y="3438144"/>
            <a:ext cx="4846320" cy="457200"/>
          </a:xfrm>
          <a:prstGeom prst="rect">
            <a:avLst/>
          </a:prstGeom>
          <a:noFill/>
        </p:spPr>
        <p:txBody>
          <a:bodyPr wrap="square" anchor="t" lIns="0" rIns="0" tIns="0" bIns="0">
            <a:spAutoFit/>
          </a:bodyPr>
          <a:lstStyle/>
          <a:p>
            <a:pPr algn="l"/>
            <a:r>
              <a:rPr sz="1200" b="0" i="0">
                <a:solidFill>
                  <a:srgbClr val="5F6B66"/>
                </a:solidFill>
                <a:latin typeface="Calibri"/>
              </a:rPr>
              <a:t>55 negative, zero or 9-15x inflated values rebuilt from spend = transactions x basket</a:t>
            </a:r>
          </a:p>
        </p:txBody>
      </p:sp>
      <p:sp>
        <p:nvSpPr>
          <p:cNvPr id="14" name="Oval 13"/>
          <p:cNvSpPr/>
          <p:nvPr/>
        </p:nvSpPr>
        <p:spPr>
          <a:xfrm>
            <a:off x="548640" y="3941063"/>
            <a:ext cx="384048" cy="384048"/>
          </a:xfrm>
          <a:prstGeom prst="ellipse">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5" name="TextBox 14"/>
          <p:cNvSpPr txBox="1"/>
          <p:nvPr/>
        </p:nvSpPr>
        <p:spPr>
          <a:xfrm>
            <a:off x="1097280" y="3904487"/>
            <a:ext cx="4754880" cy="292608"/>
          </a:xfrm>
          <a:prstGeom prst="rect">
            <a:avLst/>
          </a:prstGeom>
          <a:noFill/>
        </p:spPr>
        <p:txBody>
          <a:bodyPr wrap="square" anchor="t" lIns="0" rIns="0" tIns="0" bIns="0">
            <a:spAutoFit/>
          </a:bodyPr>
          <a:lstStyle/>
          <a:p>
            <a:pPr algn="l"/>
            <a:r>
              <a:rPr sz="1500" b="1" i="0">
                <a:solidFill>
                  <a:srgbClr val="1B1B1B"/>
                </a:solidFill>
                <a:latin typeface="Calibri"/>
              </a:rPr>
              <a:t>Impossible zeros</a:t>
            </a:r>
          </a:p>
        </p:txBody>
      </p:sp>
      <p:sp>
        <p:nvSpPr>
          <p:cNvPr id="16" name="TextBox 15"/>
          <p:cNvSpPr txBox="1"/>
          <p:nvPr/>
        </p:nvSpPr>
        <p:spPr>
          <a:xfrm>
            <a:off x="1097280" y="4206240"/>
            <a:ext cx="4846320" cy="457200"/>
          </a:xfrm>
          <a:prstGeom prst="rect">
            <a:avLst/>
          </a:prstGeom>
          <a:noFill/>
        </p:spPr>
        <p:txBody>
          <a:bodyPr wrap="square" anchor="t" lIns="0" rIns="0" tIns="0" bIns="0">
            <a:spAutoFit/>
          </a:bodyPr>
          <a:lstStyle/>
          <a:p>
            <a:pPr algn="l"/>
            <a:r>
              <a:rPr sz="1200" b="0" i="0">
                <a:solidFill>
                  <a:srgbClr val="5F6B66"/>
                </a:solidFill>
                <a:latin typeface="Calibri"/>
              </a:rPr>
              <a:t>2,105 'categories / coupons' values in zero-transaction months set to 0</a:t>
            </a:r>
          </a:p>
        </p:txBody>
      </p:sp>
      <p:sp>
        <p:nvSpPr>
          <p:cNvPr id="17" name="Oval 16"/>
          <p:cNvSpPr/>
          <p:nvPr/>
        </p:nvSpPr>
        <p:spPr>
          <a:xfrm>
            <a:off x="548640" y="4709159"/>
            <a:ext cx="384048" cy="384048"/>
          </a:xfrm>
          <a:prstGeom prst="ellipse">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8" name="TextBox 17"/>
          <p:cNvSpPr txBox="1"/>
          <p:nvPr/>
        </p:nvSpPr>
        <p:spPr>
          <a:xfrm>
            <a:off x="1097280" y="4672583"/>
            <a:ext cx="4754880" cy="292608"/>
          </a:xfrm>
          <a:prstGeom prst="rect">
            <a:avLst/>
          </a:prstGeom>
          <a:noFill/>
        </p:spPr>
        <p:txBody>
          <a:bodyPr wrap="square" anchor="t" lIns="0" rIns="0" tIns="0" bIns="0">
            <a:spAutoFit/>
          </a:bodyPr>
          <a:lstStyle/>
          <a:p>
            <a:pPr algn="l"/>
            <a:r>
              <a:rPr sz="1500" b="1" i="0">
                <a:solidFill>
                  <a:srgbClr val="1B1B1B"/>
                </a:solidFill>
                <a:latin typeface="Calibri"/>
              </a:rPr>
              <a:t>Missing months</a:t>
            </a:r>
          </a:p>
        </p:txBody>
      </p:sp>
      <p:sp>
        <p:nvSpPr>
          <p:cNvPr id="19" name="TextBox 18"/>
          <p:cNvSpPr txBox="1"/>
          <p:nvPr/>
        </p:nvSpPr>
        <p:spPr>
          <a:xfrm>
            <a:off x="1097280" y="4974336"/>
            <a:ext cx="4846320" cy="457200"/>
          </a:xfrm>
          <a:prstGeom prst="rect">
            <a:avLst/>
          </a:prstGeom>
          <a:noFill/>
        </p:spPr>
        <p:txBody>
          <a:bodyPr wrap="square" anchor="t" lIns="0" rIns="0" tIns="0" bIns="0">
            <a:spAutoFit/>
          </a:bodyPr>
          <a:lstStyle/>
          <a:p>
            <a:pPr algn="l"/>
            <a:r>
              <a:rPr sz="1200" b="0" i="0">
                <a:solidFill>
                  <a:srgbClr val="5F6B66"/>
                </a:solidFill>
                <a:latin typeface="Calibri"/>
              </a:rPr>
              <a:t>953 member-months absent: treated as missing data, never as zero activity</a:t>
            </a:r>
          </a:p>
        </p:txBody>
      </p:sp>
      <p:sp>
        <p:nvSpPr>
          <p:cNvPr id="20" name="Oval 19"/>
          <p:cNvSpPr/>
          <p:nvPr/>
        </p:nvSpPr>
        <p:spPr>
          <a:xfrm>
            <a:off x="548640" y="5477256"/>
            <a:ext cx="384048" cy="384048"/>
          </a:xfrm>
          <a:prstGeom prst="ellipse">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21" name="TextBox 20"/>
          <p:cNvSpPr txBox="1"/>
          <p:nvPr/>
        </p:nvSpPr>
        <p:spPr>
          <a:xfrm>
            <a:off x="1097280" y="5440680"/>
            <a:ext cx="4754880" cy="292608"/>
          </a:xfrm>
          <a:prstGeom prst="rect">
            <a:avLst/>
          </a:prstGeom>
          <a:noFill/>
        </p:spPr>
        <p:txBody>
          <a:bodyPr wrap="square" anchor="t" lIns="0" rIns="0" tIns="0" bIns="0">
            <a:spAutoFit/>
          </a:bodyPr>
          <a:lstStyle/>
          <a:p>
            <a:pPr algn="l"/>
            <a:r>
              <a:rPr sz="1500" b="1" i="0">
                <a:solidFill>
                  <a:srgbClr val="1B1B1B"/>
                </a:solidFill>
                <a:latin typeface="Calibri"/>
              </a:rPr>
              <a:t>Leaky label columns</a:t>
            </a:r>
          </a:p>
        </p:txBody>
      </p:sp>
      <p:sp>
        <p:nvSpPr>
          <p:cNvPr id="22" name="TextBox 21"/>
          <p:cNvSpPr txBox="1"/>
          <p:nvPr/>
        </p:nvSpPr>
        <p:spPr>
          <a:xfrm>
            <a:off x="1097280" y="5742432"/>
            <a:ext cx="4846320" cy="457200"/>
          </a:xfrm>
          <a:prstGeom prst="rect">
            <a:avLst/>
          </a:prstGeom>
          <a:noFill/>
        </p:spPr>
        <p:txBody>
          <a:bodyPr wrap="square" anchor="t" lIns="0" rIns="0" tIns="0" bIns="0">
            <a:spAutoFit/>
          </a:bodyPr>
          <a:lstStyle/>
          <a:p>
            <a:pPr algn="l"/>
            <a:r>
              <a:rPr sz="1200" b="0" i="0">
                <a:solidFill>
                  <a:srgbClr val="5F6B66"/>
                </a:solidFill>
                <a:latin typeface="Calibri"/>
              </a:rPr>
              <a:t>MONTHS_OBSERVED, LAST_PURCHASE_DATE, INSUFFICIENT_HISTORY_FLAG use Apr-Jun data: excluded</a:t>
            </a:r>
          </a:p>
        </p:txBody>
      </p:sp>
      <p:pic>
        <p:nvPicPr>
          <p:cNvPr id="23" name="Picture 22" descr="01_dq_spend_repair.png"/>
          <p:cNvPicPr>
            <a:picLocks noChangeAspect="1"/>
          </p:cNvPicPr>
          <p:nvPr/>
        </p:nvPicPr>
        <p:blipFill>
          <a:blip r:embed="rId2"/>
          <a:stretch>
            <a:fillRect/>
          </a:stretch>
        </p:blipFill>
        <p:spPr>
          <a:xfrm>
            <a:off x="6411201" y="1463040"/>
            <a:ext cx="5191276" cy="3657600"/>
          </a:xfrm>
          <a:prstGeom prst="rect">
            <a:avLst/>
          </a:prstGeom>
        </p:spPr>
      </p:pic>
      <p:sp>
        <p:nvSpPr>
          <p:cNvPr id="24" name="TextBox 23"/>
          <p:cNvSpPr txBox="1"/>
          <p:nvPr/>
        </p:nvSpPr>
        <p:spPr>
          <a:xfrm>
            <a:off x="6309360" y="5303520"/>
            <a:ext cx="5394960" cy="914400"/>
          </a:xfrm>
          <a:prstGeom prst="rect">
            <a:avLst/>
          </a:prstGeom>
          <a:noFill/>
        </p:spPr>
        <p:txBody>
          <a:bodyPr wrap="square" anchor="t" lIns="0" rIns="0" tIns="0" bIns="0">
            <a:spAutoFit/>
          </a:bodyPr>
          <a:lstStyle/>
          <a:p>
            <a:pPr algn="l"/>
            <a:r>
              <a:rPr sz="1300" b="1" i="0">
                <a:solidFill>
                  <a:srgbClr val="EB6834"/>
                </a:solidFill>
                <a:latin typeface="Calibri"/>
              </a:rPr>
              <a:t>Leakage check: </a:t>
            </a:r>
            <a:r>
              <a:rPr sz="1300" b="0" i="0">
                <a:solidFill>
                  <a:srgbClr val="1B1B1B"/>
                </a:solidFill>
                <a:latin typeface="Calibri"/>
              </a:rPr>
              <a:t>adding the leaky columns would inflate Active-member PR-AUC from 0.80 to 0.87. An automated test also proves our features ignore all post-cut-off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anchor="t" lIns="0" rIns="0" tIns="0" bIns="0">
            <a:spAutoFit/>
          </a:bodyPr>
          <a:lstStyle/>
          <a:p>
            <a:pPr algn="l"/>
            <a:r>
              <a:rPr sz="1100" b="1" i="0">
                <a:solidFill>
                  <a:srgbClr val="2E7D5B"/>
                </a:solidFill>
                <a:latin typeface="Calibri"/>
              </a:rPr>
              <a:t>WHAT CHURN REALLY LOOKS LIKE</a:t>
            </a:r>
          </a:p>
        </p:txBody>
      </p:sp>
      <p:sp>
        <p:nvSpPr>
          <p:cNvPr id="3" name="TextBox 2"/>
          <p:cNvSpPr txBox="1"/>
          <p:nvPr/>
        </p:nvSpPr>
        <p:spPr>
          <a:xfrm>
            <a:off x="548640" y="566928"/>
            <a:ext cx="11064240" cy="868680"/>
          </a:xfrm>
          <a:prstGeom prst="rect">
            <a:avLst/>
          </a:prstGeom>
          <a:noFill/>
        </p:spPr>
        <p:txBody>
          <a:bodyPr wrap="square" anchor="t" lIns="0" rIns="0" tIns="0" bIns="0">
            <a:spAutoFit/>
          </a:bodyPr>
          <a:lstStyle/>
          <a:p>
            <a:pPr algn="l"/>
            <a:r>
              <a:rPr sz="2700" b="1" i="0">
                <a:solidFill>
                  <a:srgbClr val="1B1B1B"/>
                </a:solidFill>
                <a:latin typeface="Calibri"/>
              </a:rPr>
              <a:t>Two different churn problems hide inside one number</a:t>
            </a:r>
          </a:p>
        </p:txBody>
      </p:sp>
      <p:sp>
        <p:nvSpPr>
          <p:cNvPr id="4" name="TextBox 3"/>
          <p:cNvSpPr txBox="1"/>
          <p:nvPr/>
        </p:nvSpPr>
        <p:spPr>
          <a:xfrm>
            <a:off x="548640" y="6446520"/>
            <a:ext cx="5486400" cy="274320"/>
          </a:xfrm>
          <a:prstGeom prst="rect">
            <a:avLst/>
          </a:prstGeom>
          <a:noFill/>
        </p:spPr>
        <p:txBody>
          <a:bodyPr wrap="square" anchor="t" lIns="0" rIns="0" tIns="0" bIns="0">
            <a:spAutoFit/>
          </a:bodyPr>
          <a:lstStyle/>
          <a:p>
            <a:pPr algn="l"/>
            <a:r>
              <a:rPr sz="900" b="0" i="0">
                <a:solidFill>
                  <a:srgbClr val="5F6B66"/>
                </a:solidFill>
                <a:latin typeface="Calibri"/>
              </a:rPr>
              <a:t>Silent Cart  ·  FreshBasket loyalty churn  ·  4</a:t>
            </a:r>
          </a:p>
        </p:txBody>
      </p:sp>
      <p:pic>
        <p:nvPicPr>
          <p:cNvPr id="5" name="Picture 4" descr="03_recency_cliff_two_churns.png"/>
          <p:cNvPicPr>
            <a:picLocks noChangeAspect="1"/>
          </p:cNvPicPr>
          <p:nvPr/>
        </p:nvPicPr>
        <p:blipFill>
          <a:blip r:embed="rId2"/>
          <a:stretch>
            <a:fillRect/>
          </a:stretch>
        </p:blipFill>
        <p:spPr>
          <a:xfrm>
            <a:off x="457200" y="1612841"/>
            <a:ext cx="7040880" cy="4546716"/>
          </a:xfrm>
          <a:prstGeom prst="rect">
            <a:avLst/>
          </a:prstGeom>
        </p:spPr>
      </p:pic>
      <p:sp>
        <p:nvSpPr>
          <p:cNvPr id="6" name="Rounded Rectangle 5"/>
          <p:cNvSpPr/>
          <p:nvPr/>
        </p:nvSpPr>
        <p:spPr>
          <a:xfrm>
            <a:off x="7772400" y="1600200"/>
            <a:ext cx="3931920" cy="2057400"/>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01000" y="1764792"/>
            <a:ext cx="3474720" cy="685800"/>
          </a:xfrm>
          <a:prstGeom prst="rect">
            <a:avLst/>
          </a:prstGeom>
          <a:noFill/>
        </p:spPr>
        <p:txBody>
          <a:bodyPr wrap="square" anchor="t" lIns="0" rIns="0" tIns="0" bIns="0">
            <a:spAutoFit/>
          </a:bodyPr>
          <a:lstStyle/>
          <a:p>
            <a:pPr algn="l"/>
            <a:r>
              <a:rPr sz="3200" b="1" i="0">
                <a:solidFill>
                  <a:srgbClr val="EB6834"/>
                </a:solidFill>
                <a:latin typeface="Calibri"/>
              </a:rPr>
              <a:t>653 · 99%</a:t>
            </a:r>
          </a:p>
        </p:txBody>
      </p:sp>
      <p:sp>
        <p:nvSpPr>
          <p:cNvPr id="8" name="TextBox 7"/>
          <p:cNvSpPr txBox="1"/>
          <p:nvPr/>
        </p:nvSpPr>
        <p:spPr>
          <a:xfrm>
            <a:off x="8001000" y="2280920"/>
            <a:ext cx="3474720" cy="1330960"/>
          </a:xfrm>
          <a:prstGeom prst="rect">
            <a:avLst/>
          </a:prstGeom>
          <a:noFill/>
        </p:spPr>
        <p:txBody>
          <a:bodyPr wrap="square" anchor="t" lIns="0" rIns="0" tIns="0" bIns="0">
            <a:spAutoFit/>
          </a:bodyPr>
          <a:lstStyle/>
          <a:p>
            <a:pPr algn="l"/>
            <a:r>
              <a:rPr sz="1200" b="0" i="0">
                <a:solidFill>
                  <a:srgbClr val="5F6B66"/>
                </a:solidFill>
                <a:latin typeface="Calibri"/>
              </a:rPr>
              <a:t>LAPSED: no purchase in Jan-Mar 2024. They left before the window opened. Action: win-back campaign, identified by a rule</a:t>
            </a:r>
          </a:p>
        </p:txBody>
      </p:sp>
      <p:sp>
        <p:nvSpPr>
          <p:cNvPr id="9" name="Rounded Rectangle 8"/>
          <p:cNvSpPr/>
          <p:nvPr/>
        </p:nvSpPr>
        <p:spPr>
          <a:xfrm>
            <a:off x="7772400" y="3840480"/>
            <a:ext cx="3931920" cy="2057400"/>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4005072"/>
            <a:ext cx="3474720" cy="685800"/>
          </a:xfrm>
          <a:prstGeom prst="rect">
            <a:avLst/>
          </a:prstGeom>
          <a:noFill/>
        </p:spPr>
        <p:txBody>
          <a:bodyPr wrap="square" anchor="t" lIns="0" rIns="0" tIns="0" bIns="0">
            <a:spAutoFit/>
          </a:bodyPr>
          <a:lstStyle/>
          <a:p>
            <a:pPr algn="l"/>
            <a:r>
              <a:rPr sz="3200" b="1" i="0">
                <a:solidFill>
                  <a:srgbClr val="2E7D5B"/>
                </a:solidFill>
                <a:latin typeface="Calibri"/>
              </a:rPr>
              <a:t>1,715 · 9.6%</a:t>
            </a:r>
          </a:p>
        </p:txBody>
      </p:sp>
      <p:sp>
        <p:nvSpPr>
          <p:cNvPr id="11" name="TextBox 10"/>
          <p:cNvSpPr txBox="1"/>
          <p:nvPr/>
        </p:nvSpPr>
        <p:spPr>
          <a:xfrm>
            <a:off x="8001000" y="4521200"/>
            <a:ext cx="3474720" cy="1330960"/>
          </a:xfrm>
          <a:prstGeom prst="rect">
            <a:avLst/>
          </a:prstGeom>
          <a:noFill/>
        </p:spPr>
        <p:txBody>
          <a:bodyPr wrap="square" anchor="t" lIns="0" rIns="0" tIns="0" bIns="0">
            <a:spAutoFit/>
          </a:bodyPr>
          <a:lstStyle/>
          <a:p>
            <a:pPr algn="l"/>
            <a:r>
              <a:rPr sz="1200" b="0" i="0">
                <a:solidFill>
                  <a:srgbClr val="5F6B66"/>
                </a:solidFill>
                <a:latin typeface="Calibri"/>
              </a:rPr>
              <a:t>ACTIVE: bought in Jan-Mar 2024. A genuine early-warning problem. Action: model + targeted retention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anchor="t" lIns="0" rIns="0" tIns="0" bIns="0">
            <a:spAutoFit/>
          </a:bodyPr>
          <a:lstStyle/>
          <a:p>
            <a:pPr algn="l"/>
            <a:r>
              <a:rPr sz="1100" b="1" i="0">
                <a:solidFill>
                  <a:srgbClr val="2E7D5B"/>
                </a:solidFill>
                <a:latin typeface="Calibri"/>
              </a:rPr>
              <a:t>EARLY-WARNING SIGNALS</a:t>
            </a:r>
          </a:p>
        </p:txBody>
      </p:sp>
      <p:sp>
        <p:nvSpPr>
          <p:cNvPr id="3" name="TextBox 2"/>
          <p:cNvSpPr txBox="1"/>
          <p:nvPr/>
        </p:nvSpPr>
        <p:spPr>
          <a:xfrm>
            <a:off x="548640" y="566928"/>
            <a:ext cx="11064240" cy="868680"/>
          </a:xfrm>
          <a:prstGeom prst="rect">
            <a:avLst/>
          </a:prstGeom>
          <a:noFill/>
        </p:spPr>
        <p:txBody>
          <a:bodyPr wrap="square" anchor="t" lIns="0" rIns="0" tIns="0" bIns="0">
            <a:spAutoFit/>
          </a:bodyPr>
          <a:lstStyle/>
          <a:p>
            <a:pPr algn="l"/>
            <a:r>
              <a:rPr sz="2700" b="1" i="0">
                <a:solidFill>
                  <a:srgbClr val="1B1B1B"/>
                </a:solidFill>
                <a:latin typeface="Calibri"/>
              </a:rPr>
              <a:t>Churn has a fingerprint, and a two-month window to act</a:t>
            </a:r>
          </a:p>
        </p:txBody>
      </p:sp>
      <p:sp>
        <p:nvSpPr>
          <p:cNvPr id="4" name="TextBox 3"/>
          <p:cNvSpPr txBox="1"/>
          <p:nvPr/>
        </p:nvSpPr>
        <p:spPr>
          <a:xfrm>
            <a:off x="548640" y="6446520"/>
            <a:ext cx="5486400" cy="274320"/>
          </a:xfrm>
          <a:prstGeom prst="rect">
            <a:avLst/>
          </a:prstGeom>
          <a:noFill/>
        </p:spPr>
        <p:txBody>
          <a:bodyPr wrap="square" anchor="t" lIns="0" rIns="0" tIns="0" bIns="0">
            <a:spAutoFit/>
          </a:bodyPr>
          <a:lstStyle/>
          <a:p>
            <a:pPr algn="l"/>
            <a:r>
              <a:rPr sz="900" b="0" i="0">
                <a:solidFill>
                  <a:srgbClr val="5F6B66"/>
                </a:solidFill>
                <a:latin typeface="Calibri"/>
              </a:rPr>
              <a:t>Silent Cart  ·  FreshBasket loyalty churn  ·  5</a:t>
            </a:r>
          </a:p>
        </p:txBody>
      </p:sp>
      <p:pic>
        <p:nvPicPr>
          <p:cNvPr id="5" name="Picture 4" descr="04_churn_fingerprint.png"/>
          <p:cNvPicPr>
            <a:picLocks noChangeAspect="1"/>
          </p:cNvPicPr>
          <p:nvPr/>
        </p:nvPicPr>
        <p:blipFill>
          <a:blip r:embed="rId2"/>
          <a:stretch>
            <a:fillRect/>
          </a:stretch>
        </p:blipFill>
        <p:spPr>
          <a:xfrm>
            <a:off x="841464" y="1417320"/>
            <a:ext cx="10478591" cy="3611880"/>
          </a:xfrm>
          <a:prstGeom prst="rect">
            <a:avLst/>
          </a:prstGeom>
        </p:spPr>
      </p:pic>
      <p:sp>
        <p:nvSpPr>
          <p:cNvPr id="6" name="Rounded Rectangle 5"/>
          <p:cNvSpPr/>
          <p:nvPr/>
        </p:nvSpPr>
        <p:spPr>
          <a:xfrm>
            <a:off x="548640" y="5120640"/>
            <a:ext cx="3566160" cy="1188720"/>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5285231"/>
            <a:ext cx="3108960" cy="685800"/>
          </a:xfrm>
          <a:prstGeom prst="rect">
            <a:avLst/>
          </a:prstGeom>
          <a:noFill/>
        </p:spPr>
        <p:txBody>
          <a:bodyPr wrap="square" anchor="t" lIns="0" rIns="0" tIns="0" bIns="0">
            <a:spAutoFit/>
          </a:bodyPr>
          <a:lstStyle/>
          <a:p>
            <a:pPr algn="l"/>
            <a:r>
              <a:rPr sz="2800" b="1" i="0">
                <a:solidFill>
                  <a:srgbClr val="EB6834"/>
                </a:solidFill>
                <a:latin typeface="Calibri"/>
              </a:rPr>
              <a:t>37%</a:t>
            </a:r>
          </a:p>
        </p:txBody>
      </p:sp>
      <p:sp>
        <p:nvSpPr>
          <p:cNvPr id="8" name="TextBox 7"/>
          <p:cNvSpPr txBox="1"/>
          <p:nvPr/>
        </p:nvSpPr>
        <p:spPr>
          <a:xfrm>
            <a:off x="777240" y="5750560"/>
            <a:ext cx="3108960" cy="513080"/>
          </a:xfrm>
          <a:prstGeom prst="rect">
            <a:avLst/>
          </a:prstGeom>
          <a:noFill/>
        </p:spPr>
        <p:txBody>
          <a:bodyPr wrap="square" anchor="t" lIns="0" rIns="0" tIns="0" bIns="0">
            <a:spAutoFit/>
          </a:bodyPr>
          <a:lstStyle/>
          <a:p>
            <a:pPr algn="l"/>
            <a:r>
              <a:rPr sz="1200" b="0" i="0">
                <a:solidFill>
                  <a:srgbClr val="5F6B66"/>
                </a:solidFill>
                <a:latin typeface="Calibri"/>
              </a:rPr>
              <a:t>churn if spend fell 40%+ vs prior quarter</a:t>
            </a:r>
          </a:p>
        </p:txBody>
      </p:sp>
      <p:sp>
        <p:nvSpPr>
          <p:cNvPr id="9" name="Rounded Rectangle 8"/>
          <p:cNvSpPr/>
          <p:nvPr/>
        </p:nvSpPr>
        <p:spPr>
          <a:xfrm>
            <a:off x="4297679" y="5120640"/>
            <a:ext cx="3566160" cy="1188720"/>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5285231"/>
            <a:ext cx="3108960" cy="685800"/>
          </a:xfrm>
          <a:prstGeom prst="rect">
            <a:avLst/>
          </a:prstGeom>
          <a:noFill/>
        </p:spPr>
        <p:txBody>
          <a:bodyPr wrap="square" anchor="t" lIns="0" rIns="0" tIns="0" bIns="0">
            <a:spAutoFit/>
          </a:bodyPr>
          <a:lstStyle/>
          <a:p>
            <a:pPr algn="l"/>
            <a:r>
              <a:rPr sz="2800" b="1" i="0">
                <a:solidFill>
                  <a:srgbClr val="EB6834"/>
                </a:solidFill>
                <a:latin typeface="Calibri"/>
              </a:rPr>
              <a:t>46%</a:t>
            </a:r>
          </a:p>
        </p:txBody>
      </p:sp>
      <p:sp>
        <p:nvSpPr>
          <p:cNvPr id="11" name="TextBox 10"/>
          <p:cNvSpPr txBox="1"/>
          <p:nvPr/>
        </p:nvSpPr>
        <p:spPr>
          <a:xfrm>
            <a:off x="4526279" y="5750560"/>
            <a:ext cx="3108960" cy="513080"/>
          </a:xfrm>
          <a:prstGeom prst="rect">
            <a:avLst/>
          </a:prstGeom>
          <a:noFill/>
        </p:spPr>
        <p:txBody>
          <a:bodyPr wrap="square" anchor="t" lIns="0" rIns="0" tIns="0" bIns="0">
            <a:spAutoFit/>
          </a:bodyPr>
          <a:lstStyle/>
          <a:p>
            <a:pPr algn="l"/>
            <a:r>
              <a:rPr sz="1200" b="0" i="0">
                <a:solidFill>
                  <a:srgbClr val="5F6B66"/>
                </a:solidFill>
                <a:latin typeface="Calibri"/>
              </a:rPr>
              <a:t>churn with under 0.5 app sessions / month</a:t>
            </a:r>
          </a:p>
        </p:txBody>
      </p:sp>
      <p:sp>
        <p:nvSpPr>
          <p:cNvPr id="12" name="Rounded Rectangle 11"/>
          <p:cNvSpPr/>
          <p:nvPr/>
        </p:nvSpPr>
        <p:spPr>
          <a:xfrm>
            <a:off x="8046719" y="5120640"/>
            <a:ext cx="3566160" cy="1188720"/>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19" y="5285231"/>
            <a:ext cx="3108960" cy="685800"/>
          </a:xfrm>
          <a:prstGeom prst="rect">
            <a:avLst/>
          </a:prstGeom>
          <a:noFill/>
        </p:spPr>
        <p:txBody>
          <a:bodyPr wrap="square" anchor="t" lIns="0" rIns="0" tIns="0" bIns="0">
            <a:spAutoFit/>
          </a:bodyPr>
          <a:lstStyle/>
          <a:p>
            <a:pPr algn="l"/>
            <a:r>
              <a:rPr sz="2800" b="1" i="0">
                <a:solidFill>
                  <a:srgbClr val="EB6834"/>
                </a:solidFill>
                <a:latin typeface="Calibri"/>
              </a:rPr>
              <a:t>17% vs 9%</a:t>
            </a:r>
          </a:p>
        </p:txBody>
      </p:sp>
      <p:sp>
        <p:nvSpPr>
          <p:cNvPr id="14" name="TextBox 13"/>
          <p:cNvSpPr txBox="1"/>
          <p:nvPr/>
        </p:nvSpPr>
        <p:spPr>
          <a:xfrm>
            <a:off x="8275319" y="5750560"/>
            <a:ext cx="3108960" cy="513080"/>
          </a:xfrm>
          <a:prstGeom prst="rect">
            <a:avLst/>
          </a:prstGeom>
          <a:noFill/>
        </p:spPr>
        <p:txBody>
          <a:bodyPr wrap="square" anchor="t" lIns="0" rIns="0" tIns="0" bIns="0">
            <a:spAutoFit/>
          </a:bodyPr>
          <a:lstStyle/>
          <a:p>
            <a:pPr algn="l"/>
            <a:r>
              <a:rPr sz="1200" b="0" i="0">
                <a:solidFill>
                  <a:srgbClr val="5F6B66"/>
                </a:solidFill>
                <a:latin typeface="Calibri"/>
              </a:rPr>
              <a:t>churn with vs without a recent formal complaint (p &lt; 0.001)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anchor="t" lIns="0" rIns="0" tIns="0" bIns="0">
            <a:spAutoFit/>
          </a:bodyPr>
          <a:lstStyle/>
          <a:p>
            <a:pPr algn="l"/>
            <a:r>
              <a:rPr sz="1100" b="1" i="0">
                <a:solidFill>
                  <a:srgbClr val="2E7D5B"/>
                </a:solidFill>
                <a:latin typeface="Calibri"/>
              </a:rPr>
              <a:t>WHAT DRIVES CHURN</a:t>
            </a:r>
          </a:p>
        </p:txBody>
      </p:sp>
      <p:sp>
        <p:nvSpPr>
          <p:cNvPr id="3" name="TextBox 2"/>
          <p:cNvSpPr txBox="1"/>
          <p:nvPr/>
        </p:nvSpPr>
        <p:spPr>
          <a:xfrm>
            <a:off x="548640" y="566928"/>
            <a:ext cx="11064240" cy="868680"/>
          </a:xfrm>
          <a:prstGeom prst="rect">
            <a:avLst/>
          </a:prstGeom>
          <a:noFill/>
        </p:spPr>
        <p:txBody>
          <a:bodyPr wrap="square" anchor="t" lIns="0" rIns="0" tIns="0" bIns="0">
            <a:spAutoFit/>
          </a:bodyPr>
          <a:lstStyle/>
          <a:p>
            <a:pPr algn="l"/>
            <a:r>
              <a:rPr sz="2700" b="1" i="0">
                <a:solidFill>
                  <a:srgbClr val="1B1B1B"/>
                </a:solidFill>
                <a:latin typeface="Calibri"/>
              </a:rPr>
              <a:t>Support experience and engagement matter. Tier does not.</a:t>
            </a:r>
          </a:p>
        </p:txBody>
      </p:sp>
      <p:sp>
        <p:nvSpPr>
          <p:cNvPr id="4" name="TextBox 3"/>
          <p:cNvSpPr txBox="1"/>
          <p:nvPr/>
        </p:nvSpPr>
        <p:spPr>
          <a:xfrm>
            <a:off x="548640" y="6446520"/>
            <a:ext cx="5486400" cy="274320"/>
          </a:xfrm>
          <a:prstGeom prst="rect">
            <a:avLst/>
          </a:prstGeom>
          <a:noFill/>
        </p:spPr>
        <p:txBody>
          <a:bodyPr wrap="square" anchor="t" lIns="0" rIns="0" tIns="0" bIns="0">
            <a:spAutoFit/>
          </a:bodyPr>
          <a:lstStyle/>
          <a:p>
            <a:pPr algn="l"/>
            <a:r>
              <a:rPr sz="900" b="0" i="0">
                <a:solidFill>
                  <a:srgbClr val="5F6B66"/>
                </a:solidFill>
                <a:latin typeface="Calibri"/>
              </a:rPr>
              <a:t>Silent Cart  ·  FreshBasket loyalty churn  ·  6</a:t>
            </a:r>
          </a:p>
        </p:txBody>
      </p:sp>
      <p:pic>
        <p:nvPicPr>
          <p:cNvPr id="5" name="Picture 4" descr="05_engagement_support_vs_churn.png"/>
          <p:cNvPicPr>
            <a:picLocks noChangeAspect="1"/>
          </p:cNvPicPr>
          <p:nvPr/>
        </p:nvPicPr>
        <p:blipFill>
          <a:blip r:embed="rId2"/>
          <a:stretch>
            <a:fillRect/>
          </a:stretch>
        </p:blipFill>
        <p:spPr>
          <a:xfrm>
            <a:off x="457200" y="1504063"/>
            <a:ext cx="7498079" cy="2569712"/>
          </a:xfrm>
          <a:prstGeom prst="rect">
            <a:avLst/>
          </a:prstGeom>
        </p:spPr>
      </p:pic>
      <p:pic>
        <p:nvPicPr>
          <p:cNvPr id="6" name="Picture 5" descr="12_shap_by_feature_group.png"/>
          <p:cNvPicPr>
            <a:picLocks noChangeAspect="1"/>
          </p:cNvPicPr>
          <p:nvPr/>
        </p:nvPicPr>
        <p:blipFill>
          <a:blip r:embed="rId3"/>
          <a:stretch>
            <a:fillRect/>
          </a:stretch>
        </p:blipFill>
        <p:spPr>
          <a:xfrm>
            <a:off x="1859883" y="4206240"/>
            <a:ext cx="4692712" cy="2148840"/>
          </a:xfrm>
          <a:prstGeom prst="rect">
            <a:avLst/>
          </a:prstGeom>
        </p:spPr>
      </p:pic>
      <p:sp>
        <p:nvSpPr>
          <p:cNvPr id="7" name="TextBox 6"/>
          <p:cNvSpPr txBox="1"/>
          <p:nvPr/>
        </p:nvSpPr>
        <p:spPr>
          <a:xfrm>
            <a:off x="8229600" y="1600200"/>
            <a:ext cx="3474720" cy="4572000"/>
          </a:xfrm>
          <a:prstGeom prst="rect">
            <a:avLst/>
          </a:prstGeom>
          <a:noFill/>
        </p:spPr>
        <p:txBody>
          <a:bodyPr wrap="square" lIns="0" rIns="0" tIns="0" bIns="0">
            <a:spAutoFit/>
          </a:bodyPr>
          <a:lstStyle/>
          <a:p>
            <a:pPr>
              <a:spcAft>
                <a:spcPts val="1200"/>
              </a:spcAft>
            </a:pPr>
            <a:r>
              <a:rPr sz="1400" b="0">
                <a:solidFill>
                  <a:srgbClr val="2E7D5B"/>
                </a:solidFill>
                <a:latin typeface="Calibri"/>
              </a:rPr>
              <a:t>•  </a:t>
            </a:r>
            <a:r>
              <a:rPr sz="1400" b="1">
                <a:solidFill>
                  <a:srgbClr val="1B1B1B"/>
                </a:solidFill>
                <a:latin typeface="Calibri"/>
              </a:rPr>
              <a:t>Support: </a:t>
            </a:r>
            <a:r>
              <a:rPr sz="1400" b="0">
                <a:solidFill>
                  <a:srgbClr val="1B1B1B"/>
                </a:solidFill>
                <a:latin typeface="Calibri"/>
              </a:rPr>
              <a:t>3+ tickets in 6 months means 37% churn vs 4%. A complaint roughly doubles risk</a:t>
            </a:r>
          </a:p>
          <a:p>
            <a:pPr>
              <a:spcAft>
                <a:spcPts val="1200"/>
              </a:spcAft>
            </a:pPr>
            <a:r>
              <a:rPr sz="1400" b="0">
                <a:solidFill>
                  <a:srgbClr val="2E7D5B"/>
                </a:solidFill>
                <a:latin typeface="Calibri"/>
              </a:rPr>
              <a:t>•  </a:t>
            </a:r>
            <a:r>
              <a:rPr sz="1400" b="1">
                <a:solidFill>
                  <a:srgbClr val="1B1B1B"/>
                </a:solidFill>
                <a:latin typeface="Calibri"/>
              </a:rPr>
              <a:t>Engagement: </a:t>
            </a:r>
            <a:r>
              <a:rPr sz="1400" b="0">
                <a:solidFill>
                  <a:srgbClr val="1B1B1B"/>
                </a:solidFill>
                <a:latin typeface="Calibri"/>
              </a:rPr>
              <a:t>app use and email opens are top-3 SHAP drivers in both models</a:t>
            </a:r>
          </a:p>
          <a:p>
            <a:pPr>
              <a:spcAft>
                <a:spcPts val="1200"/>
              </a:spcAft>
            </a:pPr>
            <a:r>
              <a:rPr sz="1400" b="0">
                <a:solidFill>
                  <a:srgbClr val="2E7D5B"/>
                </a:solidFill>
                <a:latin typeface="Calibri"/>
              </a:rPr>
              <a:t>•  </a:t>
            </a:r>
            <a:r>
              <a:rPr sz="1400" b="1">
                <a:solidFill>
                  <a:srgbClr val="1B1B1B"/>
                </a:solidFill>
                <a:latin typeface="Calibri"/>
              </a:rPr>
              <a:t>Tier: </a:t>
            </a:r>
            <a:r>
              <a:rPr sz="1400" b="0">
                <a:solidFill>
                  <a:srgbClr val="1B1B1B"/>
                </a:solidFill>
                <a:latin typeface="Calibri"/>
              </a:rPr>
              <a:t>Platinum churns like Silver (34% vs 35%); tier, age and tenure not significant (q &gt; 0.6)</a:t>
            </a:r>
          </a:p>
          <a:p>
            <a:pPr>
              <a:spcAft>
                <a:spcPts val="1200"/>
              </a:spcAft>
            </a:pPr>
            <a:r>
              <a:rPr sz="1400" b="0">
                <a:solidFill>
                  <a:srgbClr val="2E7D5B"/>
                </a:solidFill>
                <a:latin typeface="Calibri"/>
              </a:rPr>
              <a:t>•  </a:t>
            </a:r>
            <a:r>
              <a:rPr sz="1400" b="1">
                <a:solidFill>
                  <a:srgbClr val="1B1B1B"/>
                </a:solidFill>
                <a:latin typeface="Calibri"/>
              </a:rPr>
              <a:t>Signal split: </a:t>
            </a:r>
            <a:r>
              <a:rPr sz="1400" b="0">
                <a:solidFill>
                  <a:srgbClr val="1B1B1B"/>
                </a:solidFill>
                <a:latin typeface="Calibri"/>
              </a:rPr>
              <a:t>behaviour + engagement = 73% (logistic) / 86% (boosting) of SHAP attribution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anchor="t" lIns="0" rIns="0" tIns="0" bIns="0">
            <a:spAutoFit/>
          </a:bodyPr>
          <a:lstStyle/>
          <a:p>
            <a:pPr algn="l"/>
            <a:r>
              <a:rPr sz="1100" b="1" i="0">
                <a:solidFill>
                  <a:srgbClr val="2E7D5B"/>
                </a:solidFill>
                <a:latin typeface="Calibri"/>
              </a:rPr>
              <a:t>METHOD</a:t>
            </a:r>
          </a:p>
        </p:txBody>
      </p:sp>
      <p:sp>
        <p:nvSpPr>
          <p:cNvPr id="3" name="TextBox 2"/>
          <p:cNvSpPr txBox="1"/>
          <p:nvPr/>
        </p:nvSpPr>
        <p:spPr>
          <a:xfrm>
            <a:off x="548640" y="566928"/>
            <a:ext cx="11064240" cy="868680"/>
          </a:xfrm>
          <a:prstGeom prst="rect">
            <a:avLst/>
          </a:prstGeom>
          <a:noFill/>
        </p:spPr>
        <p:txBody>
          <a:bodyPr wrap="square" anchor="t" lIns="0" rIns="0" tIns="0" bIns="0">
            <a:spAutoFit/>
          </a:bodyPr>
          <a:lstStyle/>
          <a:p>
            <a:pPr algn="l"/>
            <a:r>
              <a:rPr sz="2700" b="1" i="0">
                <a:solidFill>
                  <a:srgbClr val="1B1B1B"/>
                </a:solidFill>
                <a:latin typeface="Calibri"/>
              </a:rPr>
              <a:t>Validated the way it will be used: train on the past, test on an unseen quarter</a:t>
            </a:r>
          </a:p>
        </p:txBody>
      </p:sp>
      <p:sp>
        <p:nvSpPr>
          <p:cNvPr id="4" name="TextBox 3"/>
          <p:cNvSpPr txBox="1"/>
          <p:nvPr/>
        </p:nvSpPr>
        <p:spPr>
          <a:xfrm>
            <a:off x="548640" y="6446520"/>
            <a:ext cx="5486400" cy="274320"/>
          </a:xfrm>
          <a:prstGeom prst="rect">
            <a:avLst/>
          </a:prstGeom>
          <a:noFill/>
        </p:spPr>
        <p:txBody>
          <a:bodyPr wrap="square" anchor="t" lIns="0" rIns="0" tIns="0" bIns="0">
            <a:spAutoFit/>
          </a:bodyPr>
          <a:lstStyle/>
          <a:p>
            <a:pPr algn="l"/>
            <a:r>
              <a:rPr sz="900" b="0" i="0">
                <a:solidFill>
                  <a:srgbClr val="5F6B66"/>
                </a:solidFill>
                <a:latin typeface="Calibri"/>
              </a:rPr>
              <a:t>Silent Cart  ·  FreshBasket loyalty churn  ·  7</a:t>
            </a:r>
          </a:p>
        </p:txBody>
      </p:sp>
      <p:sp>
        <p:nvSpPr>
          <p:cNvPr id="5" name="Rounded Rectangle 4"/>
          <p:cNvSpPr/>
          <p:nvPr/>
        </p:nvSpPr>
        <p:spPr>
          <a:xfrm>
            <a:off x="548640" y="1600200"/>
            <a:ext cx="3520440" cy="1325880"/>
          </a:xfrm>
          <a:prstGeom prst="roundRect">
            <a:avLst>
              <a:gd name="adj" fmla="val 8000"/>
            </a:avLst>
          </a:prstGeom>
          <a:solidFill>
            <a:srgbClr val="BFE3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37360"/>
            <a:ext cx="3108960" cy="320040"/>
          </a:xfrm>
          <a:prstGeom prst="rect">
            <a:avLst/>
          </a:prstGeom>
          <a:noFill/>
        </p:spPr>
        <p:txBody>
          <a:bodyPr wrap="square" anchor="t" lIns="0" rIns="0" tIns="0" bIns="0">
            <a:spAutoFit/>
          </a:bodyPr>
          <a:lstStyle/>
          <a:p>
            <a:pPr algn="l"/>
            <a:r>
              <a:rPr sz="1300" b="1" i="0">
                <a:solidFill>
                  <a:srgbClr val="1B1B1B"/>
                </a:solidFill>
                <a:latin typeface="Calibri"/>
              </a:rPr>
              <a:t>TRAIN</a:t>
            </a:r>
          </a:p>
        </p:txBody>
      </p:sp>
      <p:sp>
        <p:nvSpPr>
          <p:cNvPr id="7" name="TextBox 6"/>
          <p:cNvSpPr txBox="1"/>
          <p:nvPr/>
        </p:nvSpPr>
        <p:spPr>
          <a:xfrm>
            <a:off x="777240" y="2075688"/>
            <a:ext cx="3108960" cy="320040"/>
          </a:xfrm>
          <a:prstGeom prst="rect">
            <a:avLst/>
          </a:prstGeom>
          <a:noFill/>
        </p:spPr>
        <p:txBody>
          <a:bodyPr wrap="square" anchor="t" lIns="0" rIns="0" tIns="0" bIns="0">
            <a:spAutoFit/>
          </a:bodyPr>
          <a:lstStyle/>
          <a:p>
            <a:pPr algn="l"/>
            <a:r>
              <a:rPr sz="1700" b="1" i="0">
                <a:solidFill>
                  <a:srgbClr val="1B1B1B"/>
                </a:solidFill>
                <a:latin typeface="Calibri"/>
              </a:rPr>
              <a:t>Jul-23 &amp; Oct-23 snapshots</a:t>
            </a:r>
          </a:p>
        </p:txBody>
      </p:sp>
      <p:sp>
        <p:nvSpPr>
          <p:cNvPr id="8" name="TextBox 7"/>
          <p:cNvSpPr txBox="1"/>
          <p:nvPr/>
        </p:nvSpPr>
        <p:spPr>
          <a:xfrm>
            <a:off x="777240" y="2441448"/>
            <a:ext cx="3108960" cy="320040"/>
          </a:xfrm>
          <a:prstGeom prst="rect">
            <a:avLst/>
          </a:prstGeom>
          <a:noFill/>
        </p:spPr>
        <p:txBody>
          <a:bodyPr wrap="square" anchor="t" lIns="0" rIns="0" tIns="0" bIns="0">
            <a:spAutoFit/>
          </a:bodyPr>
          <a:lstStyle/>
          <a:p>
            <a:pPr algn="l"/>
            <a:r>
              <a:rPr sz="1200" b="0" i="0">
                <a:solidFill>
                  <a:srgbClr val="1B1B1B"/>
                </a:solidFill>
                <a:latin typeface="Calibri"/>
              </a:rPr>
              <a:t>Labels: Jul-Dec 2023</a:t>
            </a:r>
          </a:p>
        </p:txBody>
      </p:sp>
      <p:sp>
        <p:nvSpPr>
          <p:cNvPr id="9" name="Right Arrow 8"/>
          <p:cNvSpPr/>
          <p:nvPr/>
        </p:nvSpPr>
        <p:spPr>
          <a:xfrm>
            <a:off x="4096511" y="2130552"/>
            <a:ext cx="182880" cy="274320"/>
          </a:xfrm>
          <a:prstGeom prst="rightArrow">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7679" y="1600200"/>
            <a:ext cx="3520440" cy="1325880"/>
          </a:xfrm>
          <a:prstGeom prst="roundRect">
            <a:avLst>
              <a:gd name="adj" fmla="val 8000"/>
            </a:avLst>
          </a:prstGeom>
          <a:solidFill>
            <a:srgbClr val="8CC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79" y="1737360"/>
            <a:ext cx="3108960" cy="320040"/>
          </a:xfrm>
          <a:prstGeom prst="rect">
            <a:avLst/>
          </a:prstGeom>
          <a:noFill/>
        </p:spPr>
        <p:txBody>
          <a:bodyPr wrap="square" anchor="t" lIns="0" rIns="0" tIns="0" bIns="0">
            <a:spAutoFit/>
          </a:bodyPr>
          <a:lstStyle/>
          <a:p>
            <a:pPr algn="l"/>
            <a:r>
              <a:rPr sz="1300" b="1" i="0">
                <a:solidFill>
                  <a:srgbClr val="1B1B1B"/>
                </a:solidFill>
                <a:latin typeface="Calibri"/>
              </a:rPr>
              <a:t>VALIDATE</a:t>
            </a:r>
          </a:p>
        </p:txBody>
      </p:sp>
      <p:sp>
        <p:nvSpPr>
          <p:cNvPr id="12" name="TextBox 11"/>
          <p:cNvSpPr txBox="1"/>
          <p:nvPr/>
        </p:nvSpPr>
        <p:spPr>
          <a:xfrm>
            <a:off x="4526279" y="2075688"/>
            <a:ext cx="3108960" cy="320040"/>
          </a:xfrm>
          <a:prstGeom prst="rect">
            <a:avLst/>
          </a:prstGeom>
          <a:noFill/>
        </p:spPr>
        <p:txBody>
          <a:bodyPr wrap="square" anchor="t" lIns="0" rIns="0" tIns="0" bIns="0">
            <a:spAutoFit/>
          </a:bodyPr>
          <a:lstStyle/>
          <a:p>
            <a:pPr algn="l"/>
            <a:r>
              <a:rPr sz="1700" b="1" i="0">
                <a:solidFill>
                  <a:srgbClr val="1B1B1B"/>
                </a:solidFill>
                <a:latin typeface="Calibri"/>
              </a:rPr>
              <a:t>Jan-24 snapshot</a:t>
            </a:r>
          </a:p>
        </p:txBody>
      </p:sp>
      <p:sp>
        <p:nvSpPr>
          <p:cNvPr id="13" name="TextBox 12"/>
          <p:cNvSpPr txBox="1"/>
          <p:nvPr/>
        </p:nvSpPr>
        <p:spPr>
          <a:xfrm>
            <a:off x="4526279" y="2441448"/>
            <a:ext cx="3108960" cy="320040"/>
          </a:xfrm>
          <a:prstGeom prst="rect">
            <a:avLst/>
          </a:prstGeom>
          <a:noFill/>
        </p:spPr>
        <p:txBody>
          <a:bodyPr wrap="square" anchor="t" lIns="0" rIns="0" tIns="0" bIns="0">
            <a:spAutoFit/>
          </a:bodyPr>
          <a:lstStyle/>
          <a:p>
            <a:pPr algn="l"/>
            <a:r>
              <a:rPr sz="1200" b="0" i="0">
                <a:solidFill>
                  <a:srgbClr val="1B1B1B"/>
                </a:solidFill>
                <a:latin typeface="Calibri"/>
              </a:rPr>
              <a:t>Model choice, calibration, threshold</a:t>
            </a:r>
          </a:p>
        </p:txBody>
      </p:sp>
      <p:sp>
        <p:nvSpPr>
          <p:cNvPr id="14" name="Right Arrow 13"/>
          <p:cNvSpPr/>
          <p:nvPr/>
        </p:nvSpPr>
        <p:spPr>
          <a:xfrm>
            <a:off x="7845551" y="2130552"/>
            <a:ext cx="182880" cy="274320"/>
          </a:xfrm>
          <a:prstGeom prst="rightArrow">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19" y="1600200"/>
            <a:ext cx="3520440" cy="1325880"/>
          </a:xfrm>
          <a:prstGeom prst="roundRect">
            <a:avLst>
              <a:gd name="adj" fmla="val 8000"/>
            </a:avLst>
          </a:prstGeom>
          <a:solidFill>
            <a:srgbClr val="1733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19" y="1737360"/>
            <a:ext cx="3108960" cy="320040"/>
          </a:xfrm>
          <a:prstGeom prst="rect">
            <a:avLst/>
          </a:prstGeom>
          <a:noFill/>
        </p:spPr>
        <p:txBody>
          <a:bodyPr wrap="square" anchor="t" lIns="0" rIns="0" tIns="0" bIns="0">
            <a:spAutoFit/>
          </a:bodyPr>
          <a:lstStyle/>
          <a:p>
            <a:pPr algn="l"/>
            <a:r>
              <a:rPr sz="1300" b="1" i="0">
                <a:solidFill>
                  <a:srgbClr val="FFFFFF"/>
                </a:solidFill>
                <a:latin typeface="Calibri"/>
              </a:rPr>
              <a:t>TEST · reported once</a:t>
            </a:r>
          </a:p>
        </p:txBody>
      </p:sp>
      <p:sp>
        <p:nvSpPr>
          <p:cNvPr id="17" name="TextBox 16"/>
          <p:cNvSpPr txBox="1"/>
          <p:nvPr/>
        </p:nvSpPr>
        <p:spPr>
          <a:xfrm>
            <a:off x="8275319" y="2075688"/>
            <a:ext cx="3108960" cy="320040"/>
          </a:xfrm>
          <a:prstGeom prst="rect">
            <a:avLst/>
          </a:prstGeom>
          <a:noFill/>
        </p:spPr>
        <p:txBody>
          <a:bodyPr wrap="square" anchor="t" lIns="0" rIns="0" tIns="0" bIns="0">
            <a:spAutoFit/>
          </a:bodyPr>
          <a:lstStyle/>
          <a:p>
            <a:pPr algn="l"/>
            <a:r>
              <a:rPr sz="1700" b="1" i="0">
                <a:solidFill>
                  <a:srgbClr val="FFFFFF"/>
                </a:solidFill>
                <a:latin typeface="Calibri"/>
              </a:rPr>
              <a:t>Apr-24 snapshot</a:t>
            </a:r>
          </a:p>
        </p:txBody>
      </p:sp>
      <p:sp>
        <p:nvSpPr>
          <p:cNvPr id="18" name="TextBox 17"/>
          <p:cNvSpPr txBox="1"/>
          <p:nvPr/>
        </p:nvSpPr>
        <p:spPr>
          <a:xfrm>
            <a:off x="8275319" y="2441448"/>
            <a:ext cx="3108960" cy="320040"/>
          </a:xfrm>
          <a:prstGeom prst="rect">
            <a:avLst/>
          </a:prstGeom>
          <a:noFill/>
        </p:spPr>
        <p:txBody>
          <a:bodyPr wrap="square" anchor="t" lIns="0" rIns="0" tIns="0" bIns="0">
            <a:spAutoFit/>
          </a:bodyPr>
          <a:lstStyle/>
          <a:p>
            <a:pPr algn="l"/>
            <a:r>
              <a:rPr sz="1200" b="0" i="0">
                <a:solidFill>
                  <a:srgbClr val="FFFFFF"/>
                </a:solidFill>
                <a:latin typeface="Calibri"/>
              </a:rPr>
              <a:t>Official Apr-Jun 2024 label</a:t>
            </a:r>
          </a:p>
        </p:txBody>
      </p:sp>
      <p:sp>
        <p:nvSpPr>
          <p:cNvPr id="19" name="TextBox 18"/>
          <p:cNvSpPr txBox="1"/>
          <p:nvPr/>
        </p:nvSpPr>
        <p:spPr>
          <a:xfrm>
            <a:off x="548640" y="3200400"/>
            <a:ext cx="11064240" cy="2194560"/>
          </a:xfrm>
          <a:prstGeom prst="rect">
            <a:avLst/>
          </a:prstGeom>
          <a:noFill/>
        </p:spPr>
        <p:txBody>
          <a:bodyPr wrap="square" lIns="0" rIns="0" tIns="0" bIns="0">
            <a:spAutoFit/>
          </a:bodyPr>
          <a:lstStyle/>
          <a:p>
            <a:pPr>
              <a:spcAft>
                <a:spcPts val="700"/>
              </a:spcAft>
            </a:pPr>
            <a:r>
              <a:rPr sz="1400" b="0">
                <a:solidFill>
                  <a:srgbClr val="2E7D5B"/>
                </a:solidFill>
                <a:latin typeface="Calibri"/>
              </a:rPr>
              <a:t>•  </a:t>
            </a:r>
            <a:r>
              <a:rPr sz="1400" b="1">
                <a:solidFill>
                  <a:srgbClr val="1B1B1B"/>
                </a:solidFill>
                <a:latin typeface="Calibri"/>
              </a:rPr>
              <a:t>Rolling-origin snapshots: </a:t>
            </a:r>
            <a:r>
              <a:rPr sz="1400" b="0">
                <a:solidFill>
                  <a:srgbClr val="1B1B1B"/>
                </a:solidFill>
                <a:latin typeface="Calibri"/>
              </a:rPr>
              <a:t>the churn definition is replayed at earlier cut-offs (99.8% agreement with the official label), giving honest out-of-time data. No random split</a:t>
            </a:r>
          </a:p>
          <a:p>
            <a:pPr>
              <a:spcAft>
                <a:spcPts val="700"/>
              </a:spcAft>
            </a:pPr>
            <a:r>
              <a:rPr sz="1400" b="0">
                <a:solidFill>
                  <a:srgbClr val="2E7D5B"/>
                </a:solidFill>
                <a:latin typeface="Calibri"/>
              </a:rPr>
              <a:t>•  </a:t>
            </a:r>
            <a:r>
              <a:rPr sz="1400" b="1">
                <a:solidFill>
                  <a:srgbClr val="1B1B1B"/>
                </a:solidFill>
                <a:latin typeface="Calibri"/>
              </a:rPr>
              <a:t>Leakage-safe features: </a:t>
            </a:r>
            <a:r>
              <a:rPr sz="1400" b="0">
                <a:solidFill>
                  <a:srgbClr val="1B1B1B"/>
                </a:solidFill>
                <a:latin typeface="Calibri"/>
              </a:rPr>
              <a:t>last 6 months only; recency, 3-vs-3-month trends, engagement, support, history, profile (42 features)</a:t>
            </a:r>
          </a:p>
          <a:p>
            <a:pPr>
              <a:spcAft>
                <a:spcPts val="700"/>
              </a:spcAft>
            </a:pPr>
            <a:r>
              <a:rPr sz="1400" b="0">
                <a:solidFill>
                  <a:srgbClr val="2E7D5B"/>
                </a:solidFill>
                <a:latin typeface="Calibri"/>
              </a:rPr>
              <a:t>•  </a:t>
            </a:r>
            <a:r>
              <a:rPr sz="1400" b="1">
                <a:solidFill>
                  <a:srgbClr val="1B1B1B"/>
                </a:solidFill>
                <a:latin typeface="Calibri"/>
              </a:rPr>
              <a:t>Imbalance: </a:t>
            </a:r>
            <a:r>
              <a:rPr sz="1400" b="0">
                <a:solidFill>
                  <a:srgbClr val="1B1B1B"/>
                </a:solidFill>
                <a:latin typeface="Calibri"/>
              </a:rPr>
              <a:t>class / sample weights, then Platt calibration so scores are real probabilities, then F1-optimal threshold on validation Active members</a:t>
            </a:r>
          </a:p>
          <a:p>
            <a:pPr>
              <a:spcAft>
                <a:spcPts val="700"/>
              </a:spcAft>
            </a:pPr>
            <a:r>
              <a:rPr sz="1400" b="0">
                <a:solidFill>
                  <a:srgbClr val="2E7D5B"/>
                </a:solidFill>
                <a:latin typeface="Calibri"/>
              </a:rPr>
              <a:t>•  </a:t>
            </a:r>
            <a:r>
              <a:rPr sz="1400" b="1">
                <a:solidFill>
                  <a:srgbClr val="1B1B1B"/>
                </a:solidFill>
                <a:latin typeface="Calibri"/>
              </a:rPr>
              <a:t>Four models: </a:t>
            </a:r>
            <a:r>
              <a:rPr sz="1400" b="0">
                <a:solidFill>
                  <a:srgbClr val="1B1B1B"/>
                </a:solidFill>
                <a:latin typeface="Calibri"/>
              </a:rPr>
              <a:t>recency rule (baseline), logistic regression, random forest, gradient boosting; tracked in MLflow</a:t>
            </a:r>
          </a:p>
          <a:p>
            <a:pPr>
              <a:spcAft>
                <a:spcPts val="700"/>
              </a:spcAft>
            </a:pPr>
            <a:r>
              <a:rPr sz="1400" b="0">
                <a:solidFill>
                  <a:srgbClr val="2E7D5B"/>
                </a:solidFill>
                <a:latin typeface="Calibri"/>
              </a:rPr>
              <a:t>•  </a:t>
            </a:r>
            <a:r>
              <a:rPr sz="1400" b="1">
                <a:solidFill>
                  <a:srgbClr val="1B1B1B"/>
                </a:solidFill>
                <a:latin typeface="Calibri"/>
              </a:rPr>
              <a:t>Scale-ready: </a:t>
            </a:r>
            <a:r>
              <a:rPr sz="1400" b="0">
                <a:solidFill>
                  <a:srgbClr val="1B1B1B"/>
                </a:solidFill>
                <a:latin typeface="Calibri"/>
              </a:rPr>
              <a:t>PySpark port of the feature pipeline matches pandas exactly on all 4 snapshots, ready for Databricks</a:t>
            </a:r>
          </a:p>
        </p:txBody>
      </p:sp>
      <p:sp>
        <p:nvSpPr>
          <p:cNvPr id="20" name="TextBox 19"/>
          <p:cNvSpPr txBox="1"/>
          <p:nvPr/>
        </p:nvSpPr>
        <p:spPr>
          <a:xfrm>
            <a:off x="548640" y="4983480"/>
            <a:ext cx="10972800" cy="274320"/>
          </a:xfrm>
          <a:prstGeom prst="rect">
            <a:avLst/>
          </a:prstGeom>
          <a:noFill/>
        </p:spPr>
        <p:txBody>
          <a:bodyPr wrap="square" anchor="t" lIns="0" rIns="0" tIns="0" bIns="0">
            <a:spAutoFit/>
          </a:bodyPr>
          <a:lstStyle/>
          <a:p>
            <a:pPr algn="l"/>
            <a:r>
              <a:rPr sz="1200" b="0" i="1">
                <a:solidFill>
                  <a:srgbClr val="5F6B66"/>
                </a:solidFill>
                <a:latin typeface="Calibri"/>
              </a:rPr>
              <a:t>Active-member PR-AUC under different validation set-ups (gradient boosting)</a:t>
            </a:r>
          </a:p>
        </p:txBody>
      </p:sp>
      <p:sp>
        <p:nvSpPr>
          <p:cNvPr id="21" name="Rounded Rectangle 20"/>
          <p:cNvSpPr/>
          <p:nvPr/>
        </p:nvSpPr>
        <p:spPr>
          <a:xfrm>
            <a:off x="548640" y="5303520"/>
            <a:ext cx="3566160" cy="1051560"/>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468112"/>
            <a:ext cx="3108960" cy="685800"/>
          </a:xfrm>
          <a:prstGeom prst="rect">
            <a:avLst/>
          </a:prstGeom>
          <a:noFill/>
        </p:spPr>
        <p:txBody>
          <a:bodyPr wrap="square" anchor="t" lIns="0" rIns="0" tIns="0" bIns="0">
            <a:spAutoFit/>
          </a:bodyPr>
          <a:lstStyle/>
          <a:p>
            <a:pPr algn="l"/>
            <a:r>
              <a:rPr sz="2600" b="1" i="0">
                <a:solidFill>
                  <a:srgbClr val="2E7D5B"/>
                </a:solidFill>
                <a:latin typeface="Calibri"/>
              </a:rPr>
              <a:t>0.81</a:t>
            </a:r>
          </a:p>
        </p:txBody>
      </p:sp>
      <p:sp>
        <p:nvSpPr>
          <p:cNvPr id="23" name="TextBox 22"/>
          <p:cNvSpPr txBox="1"/>
          <p:nvPr/>
        </p:nvSpPr>
        <p:spPr>
          <a:xfrm>
            <a:off x="777240" y="5908039"/>
            <a:ext cx="3108960" cy="401319"/>
          </a:xfrm>
          <a:prstGeom prst="rect">
            <a:avLst/>
          </a:prstGeom>
          <a:noFill/>
        </p:spPr>
        <p:txBody>
          <a:bodyPr wrap="square" anchor="t" lIns="0" rIns="0" tIns="0" bIns="0">
            <a:spAutoFit/>
          </a:bodyPr>
          <a:lstStyle/>
          <a:p>
            <a:pPr algn="l"/>
            <a:r>
              <a:rPr sz="1200" b="0" i="0">
                <a:solidFill>
                  <a:srgbClr val="5F6B66"/>
                </a:solidFill>
                <a:latin typeface="Calibri"/>
              </a:rPr>
              <a:t>Out-of-time test, clean features (reported)</a:t>
            </a:r>
          </a:p>
        </p:txBody>
      </p:sp>
      <p:sp>
        <p:nvSpPr>
          <p:cNvPr id="24" name="Rounded Rectangle 23"/>
          <p:cNvSpPr/>
          <p:nvPr/>
        </p:nvSpPr>
        <p:spPr>
          <a:xfrm>
            <a:off x="4297679" y="5303520"/>
            <a:ext cx="3566160" cy="1051560"/>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26279" y="5468112"/>
            <a:ext cx="3108960" cy="685800"/>
          </a:xfrm>
          <a:prstGeom prst="rect">
            <a:avLst/>
          </a:prstGeom>
          <a:noFill/>
        </p:spPr>
        <p:txBody>
          <a:bodyPr wrap="square" anchor="t" lIns="0" rIns="0" tIns="0" bIns="0">
            <a:spAutoFit/>
          </a:bodyPr>
          <a:lstStyle/>
          <a:p>
            <a:pPr algn="l"/>
            <a:r>
              <a:rPr sz="2600" b="1" i="0">
                <a:solidFill>
                  <a:srgbClr val="5F6B66"/>
                </a:solidFill>
                <a:latin typeface="Calibri"/>
              </a:rPr>
              <a:t>0.80</a:t>
            </a:r>
          </a:p>
        </p:txBody>
      </p:sp>
      <p:sp>
        <p:nvSpPr>
          <p:cNvPr id="26" name="TextBox 25"/>
          <p:cNvSpPr txBox="1"/>
          <p:nvPr/>
        </p:nvSpPr>
        <p:spPr>
          <a:xfrm>
            <a:off x="4526279" y="5908039"/>
            <a:ext cx="3108960" cy="401319"/>
          </a:xfrm>
          <a:prstGeom prst="rect">
            <a:avLst/>
          </a:prstGeom>
          <a:noFill/>
        </p:spPr>
        <p:txBody>
          <a:bodyPr wrap="square" anchor="t" lIns="0" rIns="0" tIns="0" bIns="0">
            <a:spAutoFit/>
          </a:bodyPr>
          <a:lstStyle/>
          <a:p>
            <a:pPr algn="l"/>
            <a:r>
              <a:rPr sz="1200" b="0" i="0">
                <a:solidFill>
                  <a:srgbClr val="5F6B66"/>
                </a:solidFill>
                <a:latin typeface="Calibri"/>
              </a:rPr>
              <a:t>Random 5-fold CV: behaviour is stable over time</a:t>
            </a:r>
          </a:p>
        </p:txBody>
      </p:sp>
      <p:sp>
        <p:nvSpPr>
          <p:cNvPr id="27" name="Rounded Rectangle 26"/>
          <p:cNvSpPr/>
          <p:nvPr/>
        </p:nvSpPr>
        <p:spPr>
          <a:xfrm>
            <a:off x="8046719" y="5303520"/>
            <a:ext cx="3566160" cy="1051560"/>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75319" y="5468112"/>
            <a:ext cx="3108960" cy="685800"/>
          </a:xfrm>
          <a:prstGeom prst="rect">
            <a:avLst/>
          </a:prstGeom>
          <a:noFill/>
        </p:spPr>
        <p:txBody>
          <a:bodyPr wrap="square" anchor="t" lIns="0" rIns="0" tIns="0" bIns="0">
            <a:spAutoFit/>
          </a:bodyPr>
          <a:lstStyle/>
          <a:p>
            <a:pPr algn="l"/>
            <a:r>
              <a:rPr sz="2600" b="1" i="0">
                <a:solidFill>
                  <a:srgbClr val="EB6834"/>
                </a:solidFill>
                <a:latin typeface="Calibri"/>
              </a:rPr>
              <a:t>0.87</a:t>
            </a:r>
          </a:p>
        </p:txBody>
      </p:sp>
      <p:sp>
        <p:nvSpPr>
          <p:cNvPr id="29" name="TextBox 28"/>
          <p:cNvSpPr txBox="1"/>
          <p:nvPr/>
        </p:nvSpPr>
        <p:spPr>
          <a:xfrm>
            <a:off x="8275319" y="5908039"/>
            <a:ext cx="3108960" cy="401319"/>
          </a:xfrm>
          <a:prstGeom prst="rect">
            <a:avLst/>
          </a:prstGeom>
          <a:noFill/>
        </p:spPr>
        <p:txBody>
          <a:bodyPr wrap="square" anchor="t" lIns="0" rIns="0" tIns="0" bIns="0">
            <a:spAutoFit/>
          </a:bodyPr>
          <a:lstStyle/>
          <a:p>
            <a:pPr algn="l"/>
            <a:r>
              <a:rPr sz="1200" b="0" i="0">
                <a:solidFill>
                  <a:srgbClr val="5F6B66"/>
                </a:solidFill>
                <a:latin typeface="Calibri"/>
              </a:rPr>
              <a:t>Random CV + leaky label columns: inflation avoided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anchor="t" lIns="0" rIns="0" tIns="0" bIns="0">
            <a:spAutoFit/>
          </a:bodyPr>
          <a:lstStyle/>
          <a:p>
            <a:pPr algn="l"/>
            <a:r>
              <a:rPr sz="1100" b="1" i="0">
                <a:solidFill>
                  <a:srgbClr val="2E7D5B"/>
                </a:solidFill>
                <a:latin typeface="Calibri"/>
              </a:rPr>
              <a:t>MODEL RESULTS · UNSEEN APR-JUN 2024 QUARTER</a:t>
            </a:r>
          </a:p>
        </p:txBody>
      </p:sp>
      <p:sp>
        <p:nvSpPr>
          <p:cNvPr id="3" name="TextBox 2"/>
          <p:cNvSpPr txBox="1"/>
          <p:nvPr/>
        </p:nvSpPr>
        <p:spPr>
          <a:xfrm>
            <a:off x="548640" y="566928"/>
            <a:ext cx="11064240" cy="868680"/>
          </a:xfrm>
          <a:prstGeom prst="rect">
            <a:avLst/>
          </a:prstGeom>
          <a:noFill/>
        </p:spPr>
        <p:txBody>
          <a:bodyPr wrap="square" anchor="t" lIns="0" rIns="0" tIns="0" bIns="0">
            <a:spAutoFit/>
          </a:bodyPr>
          <a:lstStyle/>
          <a:p>
            <a:pPr algn="l"/>
            <a:r>
              <a:rPr sz="2700" b="1" i="0">
                <a:solidFill>
                  <a:srgbClr val="1B1B1B"/>
                </a:solidFill>
                <a:latin typeface="Calibri"/>
              </a:rPr>
              <a:t>On Active members, machine learning roughly doubles what a recency rule can do</a:t>
            </a:r>
          </a:p>
        </p:txBody>
      </p:sp>
      <p:sp>
        <p:nvSpPr>
          <p:cNvPr id="4" name="TextBox 3"/>
          <p:cNvSpPr txBox="1"/>
          <p:nvPr/>
        </p:nvSpPr>
        <p:spPr>
          <a:xfrm>
            <a:off x="548640" y="6446520"/>
            <a:ext cx="5486400" cy="274320"/>
          </a:xfrm>
          <a:prstGeom prst="rect">
            <a:avLst/>
          </a:prstGeom>
          <a:noFill/>
        </p:spPr>
        <p:txBody>
          <a:bodyPr wrap="square" anchor="t" lIns="0" rIns="0" tIns="0" bIns="0">
            <a:spAutoFit/>
          </a:bodyPr>
          <a:lstStyle/>
          <a:p>
            <a:pPr algn="l"/>
            <a:r>
              <a:rPr sz="900" b="0" i="0">
                <a:solidFill>
                  <a:srgbClr val="5F6B66"/>
                </a:solidFill>
                <a:latin typeface="Calibri"/>
              </a:rPr>
              <a:t>Silent Cart  ·  FreshBasket loyalty churn  ·  8</a:t>
            </a:r>
          </a:p>
        </p:txBody>
      </p:sp>
      <p:graphicFrame>
        <p:nvGraphicFramePr>
          <p:cNvPr id="5" name="Table 4"/>
          <p:cNvGraphicFramePr>
            <a:graphicFrameLocks noGrp="1"/>
          </p:cNvGraphicFramePr>
          <p:nvPr/>
        </p:nvGraphicFramePr>
        <p:xfrm>
          <a:off x="548640" y="1600200"/>
          <a:ext cx="6035040" cy="1828800"/>
        </p:xfrm>
        <a:graphic>
          <a:graphicData uri="http://schemas.openxmlformats.org/drawingml/2006/table">
            <a:tbl>
              <a:tblPr firstRow="1" bandRow="1">
                <a:tableStyleId>{5C22544A-7EE6-4342-B048-85BDC9FD1C3A}</a:tableStyleId>
              </a:tblPr>
              <a:tblGrid>
                <a:gridCol w="1691640"/>
                <a:gridCol w="1463040"/>
                <a:gridCol w="822960"/>
                <a:gridCol w="868680"/>
                <a:gridCol w="640080"/>
                <a:gridCol w="548640"/>
              </a:tblGrid>
              <a:tr h="365760">
                <a:tc>
                  <a:txBody>
                    <a:bodyPr/>
                    <a:lstStyle/>
                    <a:p>
                      <a:pPr algn="l"/>
                      <a:r>
                        <a:rPr sz="1200" b="1">
                          <a:solidFill>
                            <a:srgbClr val="FFFFFF"/>
                          </a:solidFill>
                          <a:latin typeface="Calibri"/>
                        </a:rPr>
                        <a:t>Model</a:t>
                      </a:r>
                    </a:p>
                  </a:txBody>
                  <a:tcPr marL="73152" marR="73152">
                    <a:solidFill>
                      <a:srgbClr val="17332A"/>
                    </a:solidFill>
                  </a:tcPr>
                </a:tc>
                <a:tc>
                  <a:txBody>
                    <a:bodyPr/>
                    <a:lstStyle/>
                    <a:p>
                      <a:pPr algn="r"/>
                      <a:r>
                        <a:rPr sz="1200" b="1">
                          <a:solidFill>
                            <a:srgbClr val="FFFFFF"/>
                          </a:solidFill>
                          <a:latin typeface="Calibri"/>
                        </a:rPr>
                        <a:t>PR-AUC (95% CI)</a:t>
                      </a:r>
                    </a:p>
                  </a:txBody>
                  <a:tcPr marL="73152" marR="73152">
                    <a:solidFill>
                      <a:srgbClr val="17332A"/>
                    </a:solidFill>
                  </a:tcPr>
                </a:tc>
                <a:tc>
                  <a:txBody>
                    <a:bodyPr/>
                    <a:lstStyle/>
                    <a:p>
                      <a:pPr algn="r"/>
                      <a:r>
                        <a:rPr sz="1200" b="1">
                          <a:solidFill>
                            <a:srgbClr val="FFFFFF"/>
                          </a:solidFill>
                          <a:latin typeface="Calibri"/>
                        </a:rPr>
                        <a:t>ROC-AUC</a:t>
                      </a:r>
                    </a:p>
                  </a:txBody>
                  <a:tcPr marL="73152" marR="73152">
                    <a:solidFill>
                      <a:srgbClr val="17332A"/>
                    </a:solidFill>
                  </a:tcPr>
                </a:tc>
                <a:tc>
                  <a:txBody>
                    <a:bodyPr/>
                    <a:lstStyle/>
                    <a:p>
                      <a:pPr algn="r"/>
                      <a:r>
                        <a:rPr sz="1200" b="1">
                          <a:solidFill>
                            <a:srgbClr val="FFFFFF"/>
                          </a:solidFill>
                          <a:latin typeface="Calibri"/>
                        </a:rPr>
                        <a:t>Precision</a:t>
                      </a:r>
                    </a:p>
                  </a:txBody>
                  <a:tcPr marL="73152" marR="73152">
                    <a:solidFill>
                      <a:srgbClr val="17332A"/>
                    </a:solidFill>
                  </a:tcPr>
                </a:tc>
                <a:tc>
                  <a:txBody>
                    <a:bodyPr/>
                    <a:lstStyle/>
                    <a:p>
                      <a:pPr algn="r"/>
                      <a:r>
                        <a:rPr sz="1200" b="1">
                          <a:solidFill>
                            <a:srgbClr val="FFFFFF"/>
                          </a:solidFill>
                          <a:latin typeface="Calibri"/>
                        </a:rPr>
                        <a:t>Recall</a:t>
                      </a:r>
                    </a:p>
                  </a:txBody>
                  <a:tcPr marL="73152" marR="73152">
                    <a:solidFill>
                      <a:srgbClr val="17332A"/>
                    </a:solidFill>
                  </a:tcPr>
                </a:tc>
                <a:tc>
                  <a:txBody>
                    <a:bodyPr/>
                    <a:lstStyle/>
                    <a:p>
                      <a:pPr algn="r"/>
                      <a:r>
                        <a:rPr sz="1200" b="1">
                          <a:solidFill>
                            <a:srgbClr val="FFFFFF"/>
                          </a:solidFill>
                          <a:latin typeface="Calibri"/>
                        </a:rPr>
                        <a:t>F1</a:t>
                      </a:r>
                    </a:p>
                  </a:txBody>
                  <a:tcPr marL="73152" marR="73152">
                    <a:solidFill>
                      <a:srgbClr val="17332A"/>
                    </a:solidFill>
                  </a:tcPr>
                </a:tc>
              </a:tr>
              <a:tr h="365760">
                <a:tc>
                  <a:txBody>
                    <a:bodyPr/>
                    <a:lstStyle/>
                    <a:p>
                      <a:pPr algn="l"/>
                      <a:r>
                        <a:rPr sz="1200" b="0">
                          <a:solidFill>
                            <a:srgbClr val="1B1B1B"/>
                          </a:solidFill>
                          <a:latin typeface="Calibri"/>
                        </a:rPr>
                        <a:t>Recency rule</a:t>
                      </a:r>
                    </a:p>
                  </a:txBody>
                  <a:tcPr marL="73152" marR="73152">
                    <a:solidFill>
                      <a:srgbClr val="FFFFFF"/>
                    </a:solidFill>
                  </a:tcPr>
                </a:tc>
                <a:tc>
                  <a:txBody>
                    <a:bodyPr/>
                    <a:lstStyle/>
                    <a:p>
                      <a:pPr algn="r"/>
                      <a:r>
                        <a:rPr sz="1200" b="0">
                          <a:solidFill>
                            <a:srgbClr val="1B1B1B"/>
                          </a:solidFill>
                          <a:latin typeface="Calibri"/>
                        </a:rPr>
                        <a:t>0.46 (0.39-0.54)</a:t>
                      </a:r>
                    </a:p>
                  </a:txBody>
                  <a:tcPr marL="73152" marR="73152">
                    <a:solidFill>
                      <a:srgbClr val="FFFFFF"/>
                    </a:solidFill>
                  </a:tcPr>
                </a:tc>
                <a:tc>
                  <a:txBody>
                    <a:bodyPr/>
                    <a:lstStyle/>
                    <a:p>
                      <a:pPr algn="r"/>
                      <a:r>
                        <a:rPr sz="1200" b="0">
                          <a:solidFill>
                            <a:srgbClr val="1B1B1B"/>
                          </a:solidFill>
                          <a:latin typeface="Calibri"/>
                        </a:rPr>
                        <a:t>0.81</a:t>
                      </a:r>
                    </a:p>
                  </a:txBody>
                  <a:tcPr marL="73152" marR="73152">
                    <a:solidFill>
                      <a:srgbClr val="FFFFFF"/>
                    </a:solidFill>
                  </a:tcPr>
                </a:tc>
                <a:tc>
                  <a:txBody>
                    <a:bodyPr/>
                    <a:lstStyle/>
                    <a:p>
                      <a:pPr algn="r"/>
                      <a:r>
                        <a:rPr sz="1200" b="0">
                          <a:solidFill>
                            <a:srgbClr val="1B1B1B"/>
                          </a:solidFill>
                          <a:latin typeface="Calibri"/>
                        </a:rPr>
                        <a:t>50%</a:t>
                      </a:r>
                    </a:p>
                  </a:txBody>
                  <a:tcPr marL="73152" marR="73152">
                    <a:solidFill>
                      <a:srgbClr val="FFFFFF"/>
                    </a:solidFill>
                  </a:tcPr>
                </a:tc>
                <a:tc>
                  <a:txBody>
                    <a:bodyPr/>
                    <a:lstStyle/>
                    <a:p>
                      <a:pPr algn="r"/>
                      <a:r>
                        <a:rPr sz="1200" b="0">
                          <a:solidFill>
                            <a:srgbClr val="1B1B1B"/>
                          </a:solidFill>
                          <a:latin typeface="Calibri"/>
                        </a:rPr>
                        <a:t>68%</a:t>
                      </a:r>
                    </a:p>
                  </a:txBody>
                  <a:tcPr marL="73152" marR="73152">
                    <a:solidFill>
                      <a:srgbClr val="FFFFFF"/>
                    </a:solidFill>
                  </a:tcPr>
                </a:tc>
                <a:tc>
                  <a:txBody>
                    <a:bodyPr/>
                    <a:lstStyle/>
                    <a:p>
                      <a:pPr algn="r"/>
                      <a:r>
                        <a:rPr sz="1200" b="0">
                          <a:solidFill>
                            <a:srgbClr val="1B1B1B"/>
                          </a:solidFill>
                          <a:latin typeface="Calibri"/>
                        </a:rPr>
                        <a:t>0.58</a:t>
                      </a:r>
                    </a:p>
                  </a:txBody>
                  <a:tcPr marL="73152" marR="73152">
                    <a:solidFill>
                      <a:srgbClr val="FFFFFF"/>
                    </a:solidFill>
                  </a:tcPr>
                </a:tc>
              </a:tr>
              <a:tr h="365760">
                <a:tc>
                  <a:txBody>
                    <a:bodyPr/>
                    <a:lstStyle/>
                    <a:p>
                      <a:pPr algn="l"/>
                      <a:r>
                        <a:rPr sz="1200" b="1">
                          <a:solidFill>
                            <a:srgbClr val="1B1B1B"/>
                          </a:solidFill>
                          <a:latin typeface="Calibri"/>
                        </a:rPr>
                        <a:t>Logistic regression</a:t>
                      </a:r>
                    </a:p>
                  </a:txBody>
                  <a:tcPr marL="73152" marR="73152">
                    <a:solidFill>
                      <a:srgbClr val="EEF5F0"/>
                    </a:solidFill>
                  </a:tcPr>
                </a:tc>
                <a:tc>
                  <a:txBody>
                    <a:bodyPr/>
                    <a:lstStyle/>
                    <a:p>
                      <a:pPr algn="r"/>
                      <a:r>
                        <a:rPr sz="1200" b="1">
                          <a:solidFill>
                            <a:srgbClr val="1B1B1B"/>
                          </a:solidFill>
                          <a:latin typeface="Calibri"/>
                        </a:rPr>
                        <a:t>0.79 (0.73-0.85)</a:t>
                      </a:r>
                    </a:p>
                  </a:txBody>
                  <a:tcPr marL="73152" marR="73152">
                    <a:solidFill>
                      <a:srgbClr val="EEF5F0"/>
                    </a:solidFill>
                  </a:tcPr>
                </a:tc>
                <a:tc>
                  <a:txBody>
                    <a:bodyPr/>
                    <a:lstStyle/>
                    <a:p>
                      <a:pPr algn="r"/>
                      <a:r>
                        <a:rPr sz="1200" b="1">
                          <a:solidFill>
                            <a:srgbClr val="1B1B1B"/>
                          </a:solidFill>
                          <a:latin typeface="Calibri"/>
                        </a:rPr>
                        <a:t>0.96</a:t>
                      </a:r>
                    </a:p>
                  </a:txBody>
                  <a:tcPr marL="73152" marR="73152">
                    <a:solidFill>
                      <a:srgbClr val="EEF5F0"/>
                    </a:solidFill>
                  </a:tcPr>
                </a:tc>
                <a:tc>
                  <a:txBody>
                    <a:bodyPr/>
                    <a:lstStyle/>
                    <a:p>
                      <a:pPr algn="r"/>
                      <a:r>
                        <a:rPr sz="1200" b="1">
                          <a:solidFill>
                            <a:srgbClr val="1B1B1B"/>
                          </a:solidFill>
                          <a:latin typeface="Calibri"/>
                        </a:rPr>
                        <a:t>70%</a:t>
                      </a:r>
                    </a:p>
                  </a:txBody>
                  <a:tcPr marL="73152" marR="73152">
                    <a:solidFill>
                      <a:srgbClr val="EEF5F0"/>
                    </a:solidFill>
                  </a:tcPr>
                </a:tc>
                <a:tc>
                  <a:txBody>
                    <a:bodyPr/>
                    <a:lstStyle/>
                    <a:p>
                      <a:pPr algn="r"/>
                      <a:r>
                        <a:rPr sz="1200" b="1">
                          <a:solidFill>
                            <a:srgbClr val="1B1B1B"/>
                          </a:solidFill>
                          <a:latin typeface="Calibri"/>
                        </a:rPr>
                        <a:t>76%</a:t>
                      </a:r>
                    </a:p>
                  </a:txBody>
                  <a:tcPr marL="73152" marR="73152">
                    <a:solidFill>
                      <a:srgbClr val="EEF5F0"/>
                    </a:solidFill>
                  </a:tcPr>
                </a:tc>
                <a:tc>
                  <a:txBody>
                    <a:bodyPr/>
                    <a:lstStyle/>
                    <a:p>
                      <a:pPr algn="r"/>
                      <a:r>
                        <a:rPr sz="1200" b="1">
                          <a:solidFill>
                            <a:srgbClr val="1B1B1B"/>
                          </a:solidFill>
                          <a:latin typeface="Calibri"/>
                        </a:rPr>
                        <a:t>0.73</a:t>
                      </a:r>
                    </a:p>
                  </a:txBody>
                  <a:tcPr marL="73152" marR="73152">
                    <a:solidFill>
                      <a:srgbClr val="EEF5F0"/>
                    </a:solidFill>
                  </a:tcPr>
                </a:tc>
              </a:tr>
              <a:tr h="365760">
                <a:tc>
                  <a:txBody>
                    <a:bodyPr/>
                    <a:lstStyle/>
                    <a:p>
                      <a:pPr algn="l"/>
                      <a:r>
                        <a:rPr sz="1200" b="0">
                          <a:solidFill>
                            <a:srgbClr val="1B1B1B"/>
                          </a:solidFill>
                          <a:latin typeface="Calibri"/>
                        </a:rPr>
                        <a:t>Random forest</a:t>
                      </a:r>
                    </a:p>
                  </a:txBody>
                  <a:tcPr marL="73152" marR="73152">
                    <a:solidFill>
                      <a:srgbClr val="FFFFFF"/>
                    </a:solidFill>
                  </a:tcPr>
                </a:tc>
                <a:tc>
                  <a:txBody>
                    <a:bodyPr/>
                    <a:lstStyle/>
                    <a:p>
                      <a:pPr algn="r"/>
                      <a:r>
                        <a:rPr sz="1200" b="0">
                          <a:solidFill>
                            <a:srgbClr val="1B1B1B"/>
                          </a:solidFill>
                          <a:latin typeface="Calibri"/>
                        </a:rPr>
                        <a:t>0.78 (0.71-0.83)</a:t>
                      </a:r>
                    </a:p>
                  </a:txBody>
                  <a:tcPr marL="73152" marR="73152">
                    <a:solidFill>
                      <a:srgbClr val="FFFFFF"/>
                    </a:solidFill>
                  </a:tcPr>
                </a:tc>
                <a:tc>
                  <a:txBody>
                    <a:bodyPr/>
                    <a:lstStyle/>
                    <a:p>
                      <a:pPr algn="r"/>
                      <a:r>
                        <a:rPr sz="1200" b="0">
                          <a:solidFill>
                            <a:srgbClr val="1B1B1B"/>
                          </a:solidFill>
                          <a:latin typeface="Calibri"/>
                        </a:rPr>
                        <a:t>0.96</a:t>
                      </a:r>
                    </a:p>
                  </a:txBody>
                  <a:tcPr marL="73152" marR="73152">
                    <a:solidFill>
                      <a:srgbClr val="FFFFFF"/>
                    </a:solidFill>
                  </a:tcPr>
                </a:tc>
                <a:tc>
                  <a:txBody>
                    <a:bodyPr/>
                    <a:lstStyle/>
                    <a:p>
                      <a:pPr algn="r"/>
                      <a:r>
                        <a:rPr sz="1200" b="0">
                          <a:solidFill>
                            <a:srgbClr val="1B1B1B"/>
                          </a:solidFill>
                          <a:latin typeface="Calibri"/>
                        </a:rPr>
                        <a:t>66%</a:t>
                      </a:r>
                    </a:p>
                  </a:txBody>
                  <a:tcPr marL="73152" marR="73152">
                    <a:solidFill>
                      <a:srgbClr val="FFFFFF"/>
                    </a:solidFill>
                  </a:tcPr>
                </a:tc>
                <a:tc>
                  <a:txBody>
                    <a:bodyPr/>
                    <a:lstStyle/>
                    <a:p>
                      <a:pPr algn="r"/>
                      <a:r>
                        <a:rPr sz="1200" b="0">
                          <a:solidFill>
                            <a:srgbClr val="1B1B1B"/>
                          </a:solidFill>
                          <a:latin typeface="Calibri"/>
                        </a:rPr>
                        <a:t>78%</a:t>
                      </a:r>
                    </a:p>
                  </a:txBody>
                  <a:tcPr marL="73152" marR="73152">
                    <a:solidFill>
                      <a:srgbClr val="FFFFFF"/>
                    </a:solidFill>
                  </a:tcPr>
                </a:tc>
                <a:tc>
                  <a:txBody>
                    <a:bodyPr/>
                    <a:lstStyle/>
                    <a:p>
                      <a:pPr algn="r"/>
                      <a:r>
                        <a:rPr sz="1200" b="0">
                          <a:solidFill>
                            <a:srgbClr val="1B1B1B"/>
                          </a:solidFill>
                          <a:latin typeface="Calibri"/>
                        </a:rPr>
                        <a:t>0.72</a:t>
                      </a:r>
                    </a:p>
                  </a:txBody>
                  <a:tcPr marL="73152" marR="73152">
                    <a:solidFill>
                      <a:srgbClr val="FFFFFF"/>
                    </a:solidFill>
                  </a:tcPr>
                </a:tc>
              </a:tr>
              <a:tr h="365760">
                <a:tc>
                  <a:txBody>
                    <a:bodyPr/>
                    <a:lstStyle/>
                    <a:p>
                      <a:pPr algn="l"/>
                      <a:r>
                        <a:rPr sz="1200" b="0">
                          <a:solidFill>
                            <a:srgbClr val="1B1B1B"/>
                          </a:solidFill>
                          <a:latin typeface="Calibri"/>
                        </a:rPr>
                        <a:t>Gradient boosting</a:t>
                      </a:r>
                    </a:p>
                  </a:txBody>
                  <a:tcPr marL="73152" marR="73152">
                    <a:solidFill>
                      <a:srgbClr val="FFFFFF"/>
                    </a:solidFill>
                  </a:tcPr>
                </a:tc>
                <a:tc>
                  <a:txBody>
                    <a:bodyPr/>
                    <a:lstStyle/>
                    <a:p>
                      <a:pPr algn="r"/>
                      <a:r>
                        <a:rPr sz="1200" b="0">
                          <a:solidFill>
                            <a:srgbClr val="1B1B1B"/>
                          </a:solidFill>
                          <a:latin typeface="Calibri"/>
                        </a:rPr>
                        <a:t>0.81 (0.75-0.86)</a:t>
                      </a:r>
                    </a:p>
                  </a:txBody>
                  <a:tcPr marL="73152" marR="73152">
                    <a:solidFill>
                      <a:srgbClr val="FFFFFF"/>
                    </a:solidFill>
                  </a:tcPr>
                </a:tc>
                <a:tc>
                  <a:txBody>
                    <a:bodyPr/>
                    <a:lstStyle/>
                    <a:p>
                      <a:pPr algn="r"/>
                      <a:r>
                        <a:rPr sz="1200" b="0">
                          <a:solidFill>
                            <a:srgbClr val="1B1B1B"/>
                          </a:solidFill>
                          <a:latin typeface="Calibri"/>
                        </a:rPr>
                        <a:t>0.96</a:t>
                      </a:r>
                    </a:p>
                  </a:txBody>
                  <a:tcPr marL="73152" marR="73152">
                    <a:solidFill>
                      <a:srgbClr val="FFFFFF"/>
                    </a:solidFill>
                  </a:tcPr>
                </a:tc>
                <a:tc>
                  <a:txBody>
                    <a:bodyPr/>
                    <a:lstStyle/>
                    <a:p>
                      <a:pPr algn="r"/>
                      <a:r>
                        <a:rPr sz="1200" b="0">
                          <a:solidFill>
                            <a:srgbClr val="1B1B1B"/>
                          </a:solidFill>
                          <a:latin typeface="Calibri"/>
                        </a:rPr>
                        <a:t>71%</a:t>
                      </a:r>
                    </a:p>
                  </a:txBody>
                  <a:tcPr marL="73152" marR="73152">
                    <a:solidFill>
                      <a:srgbClr val="FFFFFF"/>
                    </a:solidFill>
                  </a:tcPr>
                </a:tc>
                <a:tc>
                  <a:txBody>
                    <a:bodyPr/>
                    <a:lstStyle/>
                    <a:p>
                      <a:pPr algn="r"/>
                      <a:r>
                        <a:rPr sz="1200" b="0">
                          <a:solidFill>
                            <a:srgbClr val="1B1B1B"/>
                          </a:solidFill>
                          <a:latin typeface="Calibri"/>
                        </a:rPr>
                        <a:t>77%</a:t>
                      </a:r>
                    </a:p>
                  </a:txBody>
                  <a:tcPr marL="73152" marR="73152">
                    <a:solidFill>
                      <a:srgbClr val="FFFFFF"/>
                    </a:solidFill>
                  </a:tcPr>
                </a:tc>
                <a:tc>
                  <a:txBody>
                    <a:bodyPr/>
                    <a:lstStyle/>
                    <a:p>
                      <a:pPr algn="r"/>
                      <a:r>
                        <a:rPr sz="1200" b="0">
                          <a:solidFill>
                            <a:srgbClr val="1B1B1B"/>
                          </a:solidFill>
                          <a:latin typeface="Calibri"/>
                        </a:rPr>
                        <a:t>0.74</a:t>
                      </a:r>
                    </a:p>
                  </a:txBody>
                  <a:tcPr marL="73152" marR="73152">
                    <a:solidFill>
                      <a:srgbClr val="FFFFFF"/>
                    </a:solidFill>
                  </a:tcPr>
                </a:tc>
              </a:tr>
            </a:tbl>
          </a:graphicData>
        </a:graphic>
      </p:graphicFrame>
      <p:pic>
        <p:nvPicPr>
          <p:cNvPr id="6" name="Picture 5" descr="07_pr_curves.png"/>
          <p:cNvPicPr>
            <a:picLocks noChangeAspect="1"/>
          </p:cNvPicPr>
          <p:nvPr/>
        </p:nvPicPr>
        <p:blipFill>
          <a:blip r:embed="rId2"/>
          <a:stretch>
            <a:fillRect/>
          </a:stretch>
        </p:blipFill>
        <p:spPr>
          <a:xfrm>
            <a:off x="6766560" y="1703884"/>
            <a:ext cx="5029200" cy="2444391"/>
          </a:xfrm>
          <a:prstGeom prst="rect">
            <a:avLst/>
          </a:prstGeom>
        </p:spPr>
      </p:pic>
      <p:sp>
        <p:nvSpPr>
          <p:cNvPr id="7" name="TextBox 6"/>
          <p:cNvSpPr txBox="1"/>
          <p:nvPr/>
        </p:nvSpPr>
        <p:spPr>
          <a:xfrm>
            <a:off x="548640" y="3886200"/>
            <a:ext cx="6035040" cy="2377440"/>
          </a:xfrm>
          <a:prstGeom prst="rect">
            <a:avLst/>
          </a:prstGeom>
          <a:noFill/>
        </p:spPr>
        <p:txBody>
          <a:bodyPr wrap="square" lIns="0" rIns="0" tIns="0" bIns="0">
            <a:spAutoFit/>
          </a:bodyPr>
          <a:lstStyle/>
          <a:p>
            <a:pPr>
              <a:spcAft>
                <a:spcPts val="900"/>
              </a:spcAft>
            </a:pPr>
            <a:r>
              <a:rPr sz="1300" b="0">
                <a:solidFill>
                  <a:srgbClr val="2E7D5B"/>
                </a:solidFill>
                <a:latin typeface="Calibri"/>
              </a:rPr>
              <a:t>•  </a:t>
            </a:r>
            <a:r>
              <a:rPr sz="1300" b="1">
                <a:solidFill>
                  <a:srgbClr val="1B1B1B"/>
                </a:solidFill>
                <a:latin typeface="Calibri"/>
              </a:rPr>
              <a:t>Selected: </a:t>
            </a:r>
            <a:r>
              <a:rPr sz="1300" b="0">
                <a:solidFill>
                  <a:srgbClr val="1B1B1B"/>
                </a:solidFill>
                <a:latin typeface="Calibri"/>
              </a:rPr>
              <a:t>Logistic regression (best of the tabular models on validation). A GRU sequence model (PyTorch) scores 0.82, likely better: shadow-test it next quarter</a:t>
            </a:r>
          </a:p>
          <a:p>
            <a:pPr>
              <a:spcAft>
                <a:spcPts val="900"/>
              </a:spcAft>
            </a:pPr>
            <a:r>
              <a:rPr sz="1300" b="0">
                <a:solidFill>
                  <a:srgbClr val="2E7D5B"/>
                </a:solidFill>
                <a:latin typeface="Calibri"/>
              </a:rPr>
              <a:t>•  </a:t>
            </a:r>
            <a:r>
              <a:rPr sz="1300" b="1">
                <a:solidFill>
                  <a:srgbClr val="1B1B1B"/>
                </a:solidFill>
                <a:latin typeface="Calibri"/>
              </a:rPr>
              <a:t>At threshold 0.37: </a:t>
            </a:r>
            <a:r>
              <a:rPr sz="1300" b="0">
                <a:solidFill>
                  <a:srgbClr val="1B1B1B"/>
                </a:solidFill>
                <a:latin typeface="Calibri"/>
              </a:rPr>
              <a:t>catches 76% of Active churners, 70% precision; top 10% of scores = 7.5x lift</a:t>
            </a:r>
          </a:p>
          <a:p>
            <a:pPr>
              <a:spcAft>
                <a:spcPts val="900"/>
              </a:spcAft>
            </a:pPr>
            <a:r>
              <a:rPr sz="1300" b="0">
                <a:solidFill>
                  <a:srgbClr val="2E7D5B"/>
                </a:solidFill>
                <a:latin typeface="Calibri"/>
              </a:rPr>
              <a:t>•  </a:t>
            </a:r>
            <a:r>
              <a:rPr sz="1300" b="1">
                <a:solidFill>
                  <a:srgbClr val="1B1B1B"/>
                </a:solidFill>
                <a:latin typeface="Calibri"/>
              </a:rPr>
              <a:t>Honest framing: </a:t>
            </a:r>
            <a:r>
              <a:rPr sz="1300" b="0">
                <a:solidFill>
                  <a:srgbClr val="1B1B1B"/>
                </a:solidFill>
                <a:latin typeface="Calibri"/>
              </a:rPr>
              <a:t>on all members every model scores PR-AUC &gt; 0.94 because lapsed members are easy. That number would mislead</a:t>
            </a:r>
          </a:p>
        </p:txBody>
      </p:sp>
      <p:pic>
        <p:nvPicPr>
          <p:cNvPr id="8" name="Picture 7" descr="09_calibration.png"/>
          <p:cNvPicPr>
            <a:picLocks noChangeAspect="1"/>
          </p:cNvPicPr>
          <p:nvPr/>
        </p:nvPicPr>
        <p:blipFill>
          <a:blip r:embed="rId3"/>
          <a:stretch>
            <a:fillRect/>
          </a:stretch>
        </p:blipFill>
        <p:spPr>
          <a:xfrm>
            <a:off x="7502418" y="4526280"/>
            <a:ext cx="3557483" cy="1828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anchor="t" lIns="0" rIns="0" tIns="0" bIns="0">
            <a:spAutoFit/>
          </a:bodyPr>
          <a:lstStyle/>
          <a:p>
            <a:pPr algn="l"/>
            <a:r>
              <a:rPr sz="1100" b="1" i="0">
                <a:solidFill>
                  <a:srgbClr val="2E7D5B"/>
                </a:solidFill>
                <a:latin typeface="Calibri"/>
              </a:rPr>
              <a:t>EXPLAINABILITY (SHAP)</a:t>
            </a:r>
          </a:p>
        </p:txBody>
      </p:sp>
      <p:sp>
        <p:nvSpPr>
          <p:cNvPr id="3" name="TextBox 2"/>
          <p:cNvSpPr txBox="1"/>
          <p:nvPr/>
        </p:nvSpPr>
        <p:spPr>
          <a:xfrm>
            <a:off x="548640" y="566928"/>
            <a:ext cx="11064240" cy="868680"/>
          </a:xfrm>
          <a:prstGeom prst="rect">
            <a:avLst/>
          </a:prstGeom>
          <a:noFill/>
        </p:spPr>
        <p:txBody>
          <a:bodyPr wrap="square" anchor="t" lIns="0" rIns="0" tIns="0" bIns="0">
            <a:spAutoFit/>
          </a:bodyPr>
          <a:lstStyle/>
          <a:p>
            <a:pPr algn="l"/>
            <a:r>
              <a:rPr sz="2700" b="1" i="0">
                <a:solidFill>
                  <a:srgbClr val="1B1B1B"/>
                </a:solidFill>
                <a:latin typeface="Calibri"/>
              </a:rPr>
              <a:t>Every member gets a score and three reasons the CRM team can act on</a:t>
            </a:r>
          </a:p>
        </p:txBody>
      </p:sp>
      <p:sp>
        <p:nvSpPr>
          <p:cNvPr id="4" name="TextBox 3"/>
          <p:cNvSpPr txBox="1"/>
          <p:nvPr/>
        </p:nvSpPr>
        <p:spPr>
          <a:xfrm>
            <a:off x="548640" y="6446520"/>
            <a:ext cx="5486400" cy="274320"/>
          </a:xfrm>
          <a:prstGeom prst="rect">
            <a:avLst/>
          </a:prstGeom>
          <a:noFill/>
        </p:spPr>
        <p:txBody>
          <a:bodyPr wrap="square" anchor="t" lIns="0" rIns="0" tIns="0" bIns="0">
            <a:spAutoFit/>
          </a:bodyPr>
          <a:lstStyle/>
          <a:p>
            <a:pPr algn="l"/>
            <a:r>
              <a:rPr sz="900" b="0" i="0">
                <a:solidFill>
                  <a:srgbClr val="5F6B66"/>
                </a:solidFill>
                <a:latin typeface="Calibri"/>
              </a:rPr>
              <a:t>Silent Cart  ·  FreshBasket loyalty churn  ·  9</a:t>
            </a:r>
          </a:p>
        </p:txBody>
      </p:sp>
      <p:pic>
        <p:nvPicPr>
          <p:cNvPr id="5" name="Picture 4" descr="11_shap_summary_active.png"/>
          <p:cNvPicPr>
            <a:picLocks noChangeAspect="1"/>
          </p:cNvPicPr>
          <p:nvPr/>
        </p:nvPicPr>
        <p:blipFill>
          <a:blip r:embed="rId2"/>
          <a:stretch>
            <a:fillRect/>
          </a:stretch>
        </p:blipFill>
        <p:spPr>
          <a:xfrm>
            <a:off x="457200" y="2045190"/>
            <a:ext cx="5760720" cy="3636299"/>
          </a:xfrm>
          <a:prstGeom prst="rect">
            <a:avLst/>
          </a:prstGeom>
        </p:spPr>
      </p:pic>
      <p:sp>
        <p:nvSpPr>
          <p:cNvPr id="6" name="TextBox 5"/>
          <p:cNvSpPr txBox="1"/>
          <p:nvPr/>
        </p:nvSpPr>
        <p:spPr>
          <a:xfrm>
            <a:off x="6492240" y="1463040"/>
            <a:ext cx="5212080" cy="274320"/>
          </a:xfrm>
          <a:prstGeom prst="rect">
            <a:avLst/>
          </a:prstGeom>
          <a:noFill/>
        </p:spPr>
        <p:txBody>
          <a:bodyPr wrap="square" anchor="t" lIns="0" rIns="0" tIns="0" bIns="0">
            <a:spAutoFit/>
          </a:bodyPr>
          <a:lstStyle/>
          <a:p>
            <a:pPr algn="l"/>
            <a:r>
              <a:rPr sz="1200" b="0" i="1">
                <a:solidFill>
                  <a:srgbClr val="5F6B66"/>
                </a:solidFill>
                <a:latin typeface="Calibri"/>
              </a:rPr>
              <a:t>From outputs/churn_predictions.csv (high-risk Active members)</a:t>
            </a:r>
          </a:p>
        </p:txBody>
      </p:sp>
      <p:sp>
        <p:nvSpPr>
          <p:cNvPr id="7" name="Rounded Rectangle 6"/>
          <p:cNvSpPr/>
          <p:nvPr/>
        </p:nvSpPr>
        <p:spPr>
          <a:xfrm>
            <a:off x="6492240" y="1828800"/>
            <a:ext cx="5212080" cy="1207008"/>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20840" y="1956816"/>
            <a:ext cx="2743200" cy="274320"/>
          </a:xfrm>
          <a:prstGeom prst="rect">
            <a:avLst/>
          </a:prstGeom>
          <a:noFill/>
        </p:spPr>
        <p:txBody>
          <a:bodyPr wrap="square" anchor="t" lIns="0" rIns="0" tIns="0" bIns="0">
            <a:spAutoFit/>
          </a:bodyPr>
          <a:lstStyle/>
          <a:p>
            <a:pPr algn="l"/>
            <a:r>
              <a:rPr sz="1300" b="1" i="0">
                <a:solidFill>
                  <a:srgbClr val="1B1B1B"/>
                </a:solidFill>
                <a:latin typeface="Calibri"/>
              </a:rPr>
              <a:t>Member 502373</a:t>
            </a:r>
          </a:p>
        </p:txBody>
      </p:sp>
      <p:sp>
        <p:nvSpPr>
          <p:cNvPr id="9" name="TextBox 8"/>
          <p:cNvSpPr txBox="1"/>
          <p:nvPr/>
        </p:nvSpPr>
        <p:spPr>
          <a:xfrm>
            <a:off x="9966960" y="1938528"/>
            <a:ext cx="1554480" cy="320040"/>
          </a:xfrm>
          <a:prstGeom prst="rect">
            <a:avLst/>
          </a:prstGeom>
          <a:noFill/>
        </p:spPr>
        <p:txBody>
          <a:bodyPr wrap="square" anchor="t" lIns="0" rIns="0" tIns="0" bIns="0">
            <a:spAutoFit/>
          </a:bodyPr>
          <a:lstStyle/>
          <a:p>
            <a:pPr algn="r"/>
            <a:r>
              <a:rPr sz="1600" b="1" i="0">
                <a:solidFill>
                  <a:srgbClr val="EB6834"/>
                </a:solidFill>
                <a:latin typeface="Calibri"/>
              </a:rPr>
              <a:t>100% risk</a:t>
            </a:r>
          </a:p>
        </p:txBody>
      </p:sp>
      <p:sp>
        <p:nvSpPr>
          <p:cNvPr id="10" name="TextBox 9"/>
          <p:cNvSpPr txBox="1"/>
          <p:nvPr/>
        </p:nvSpPr>
        <p:spPr>
          <a:xfrm>
            <a:off x="6720840" y="2286000"/>
            <a:ext cx="4800600" cy="731520"/>
          </a:xfrm>
          <a:prstGeom prst="rect">
            <a:avLst/>
          </a:prstGeom>
          <a:noFill/>
        </p:spPr>
        <p:txBody>
          <a:bodyPr wrap="square" anchor="t" lIns="0" rIns="0" tIns="0" bIns="0">
            <a:spAutoFit/>
          </a:bodyPr>
          <a:lstStyle/>
          <a:p>
            <a:pPr algn="l"/>
            <a:r>
              <a:rPr sz="1200" b="0" i="0">
                <a:solidFill>
                  <a:srgbClr val="1B1B1B"/>
                </a:solidFill>
                <a:latin typeface="Calibri"/>
              </a:rPr>
              <a:t>4 support tickets in last 3m  ·  Transactions trending down (-1.8/month)  ·  1.0 transactions/month (last 3m)</a:t>
            </a:r>
          </a:p>
        </p:txBody>
      </p:sp>
      <p:sp>
        <p:nvSpPr>
          <p:cNvPr id="11" name="Rounded Rectangle 10"/>
          <p:cNvSpPr/>
          <p:nvPr/>
        </p:nvSpPr>
        <p:spPr>
          <a:xfrm>
            <a:off x="6492240" y="3200400"/>
            <a:ext cx="5212080" cy="1207008"/>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40" y="3328416"/>
            <a:ext cx="2743200" cy="274320"/>
          </a:xfrm>
          <a:prstGeom prst="rect">
            <a:avLst/>
          </a:prstGeom>
          <a:noFill/>
        </p:spPr>
        <p:txBody>
          <a:bodyPr wrap="square" anchor="t" lIns="0" rIns="0" tIns="0" bIns="0">
            <a:spAutoFit/>
          </a:bodyPr>
          <a:lstStyle/>
          <a:p>
            <a:pPr algn="l"/>
            <a:r>
              <a:rPr sz="1300" b="1" i="0">
                <a:solidFill>
                  <a:srgbClr val="1B1B1B"/>
                </a:solidFill>
                <a:latin typeface="Calibri"/>
              </a:rPr>
              <a:t>Member 500989</a:t>
            </a:r>
          </a:p>
        </p:txBody>
      </p:sp>
      <p:sp>
        <p:nvSpPr>
          <p:cNvPr id="13" name="TextBox 12"/>
          <p:cNvSpPr txBox="1"/>
          <p:nvPr/>
        </p:nvSpPr>
        <p:spPr>
          <a:xfrm>
            <a:off x="9966960" y="3310128"/>
            <a:ext cx="1554480" cy="320040"/>
          </a:xfrm>
          <a:prstGeom prst="rect">
            <a:avLst/>
          </a:prstGeom>
          <a:noFill/>
        </p:spPr>
        <p:txBody>
          <a:bodyPr wrap="square" anchor="t" lIns="0" rIns="0" tIns="0" bIns="0">
            <a:spAutoFit/>
          </a:bodyPr>
          <a:lstStyle/>
          <a:p>
            <a:pPr algn="r"/>
            <a:r>
              <a:rPr sz="1600" b="1" i="0">
                <a:solidFill>
                  <a:srgbClr val="EB6834"/>
                </a:solidFill>
                <a:latin typeface="Calibri"/>
              </a:rPr>
              <a:t>99% risk</a:t>
            </a:r>
          </a:p>
        </p:txBody>
      </p:sp>
      <p:sp>
        <p:nvSpPr>
          <p:cNvPr id="14" name="TextBox 13"/>
          <p:cNvSpPr txBox="1"/>
          <p:nvPr/>
        </p:nvSpPr>
        <p:spPr>
          <a:xfrm>
            <a:off x="6720840" y="3657600"/>
            <a:ext cx="4800600" cy="731520"/>
          </a:xfrm>
          <a:prstGeom prst="rect">
            <a:avLst/>
          </a:prstGeom>
          <a:noFill/>
        </p:spPr>
        <p:txBody>
          <a:bodyPr wrap="square" anchor="t" lIns="0" rIns="0" tIns="0" bIns="0">
            <a:spAutoFit/>
          </a:bodyPr>
          <a:lstStyle/>
          <a:p>
            <a:pPr algn="l"/>
            <a:r>
              <a:rPr sz="1200" b="0" i="0">
                <a:solidFill>
                  <a:srgbClr val="1B1B1B"/>
                </a:solidFill>
                <a:latin typeface="Calibri"/>
              </a:rPr>
              <a:t>4 support tickets in last 3m  ·  1.0 transactions/month (last 3m)  ·  Transactions trending down (-0.9/month)</a:t>
            </a:r>
          </a:p>
        </p:txBody>
      </p:sp>
      <p:sp>
        <p:nvSpPr>
          <p:cNvPr id="15" name="Rounded Rectangle 14"/>
          <p:cNvSpPr/>
          <p:nvPr/>
        </p:nvSpPr>
        <p:spPr>
          <a:xfrm>
            <a:off x="6492240" y="4572000"/>
            <a:ext cx="5212080" cy="1207008"/>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4700016"/>
            <a:ext cx="2743200" cy="274320"/>
          </a:xfrm>
          <a:prstGeom prst="rect">
            <a:avLst/>
          </a:prstGeom>
          <a:noFill/>
        </p:spPr>
        <p:txBody>
          <a:bodyPr wrap="square" anchor="t" lIns="0" rIns="0" tIns="0" bIns="0">
            <a:spAutoFit/>
          </a:bodyPr>
          <a:lstStyle/>
          <a:p>
            <a:pPr algn="l"/>
            <a:r>
              <a:rPr sz="1300" b="1" i="0">
                <a:solidFill>
                  <a:srgbClr val="1B1B1B"/>
                </a:solidFill>
                <a:latin typeface="Calibri"/>
              </a:rPr>
              <a:t>Member 502561</a:t>
            </a:r>
          </a:p>
        </p:txBody>
      </p:sp>
      <p:sp>
        <p:nvSpPr>
          <p:cNvPr id="17" name="TextBox 16"/>
          <p:cNvSpPr txBox="1"/>
          <p:nvPr/>
        </p:nvSpPr>
        <p:spPr>
          <a:xfrm>
            <a:off x="9966960" y="4681728"/>
            <a:ext cx="1554480" cy="320040"/>
          </a:xfrm>
          <a:prstGeom prst="rect">
            <a:avLst/>
          </a:prstGeom>
          <a:noFill/>
        </p:spPr>
        <p:txBody>
          <a:bodyPr wrap="square" anchor="t" lIns="0" rIns="0" tIns="0" bIns="0">
            <a:spAutoFit/>
          </a:bodyPr>
          <a:lstStyle/>
          <a:p>
            <a:pPr algn="r"/>
            <a:r>
              <a:rPr sz="1600" b="1" i="0">
                <a:solidFill>
                  <a:srgbClr val="EB6834"/>
                </a:solidFill>
                <a:latin typeface="Calibri"/>
              </a:rPr>
              <a:t>98% risk</a:t>
            </a:r>
          </a:p>
        </p:txBody>
      </p:sp>
      <p:sp>
        <p:nvSpPr>
          <p:cNvPr id="18" name="TextBox 17"/>
          <p:cNvSpPr txBox="1"/>
          <p:nvPr/>
        </p:nvSpPr>
        <p:spPr>
          <a:xfrm>
            <a:off x="6720840" y="5029200"/>
            <a:ext cx="4800600" cy="731520"/>
          </a:xfrm>
          <a:prstGeom prst="rect">
            <a:avLst/>
          </a:prstGeom>
          <a:noFill/>
        </p:spPr>
        <p:txBody>
          <a:bodyPr wrap="square" anchor="t" lIns="0" rIns="0" tIns="0" bIns="0">
            <a:spAutoFit/>
          </a:bodyPr>
          <a:lstStyle/>
          <a:p>
            <a:pPr algn="l"/>
            <a:r>
              <a:rPr sz="1200" b="0" i="0">
                <a:solidFill>
                  <a:srgbClr val="1B1B1B"/>
                </a:solidFill>
                <a:latin typeface="Calibri"/>
              </a:rPr>
              <a:t>Transactions trending down (-1.5/month)  ·  2 support tickets in last 3m  ·  1.0 transactions/month (last 3m)</a:t>
            </a:r>
          </a:p>
        </p:txBody>
      </p:sp>
      <p:sp>
        <p:nvSpPr>
          <p:cNvPr id="19" name="TextBox 18"/>
          <p:cNvSpPr txBox="1"/>
          <p:nvPr/>
        </p:nvSpPr>
        <p:spPr>
          <a:xfrm>
            <a:off x="6492240" y="5943600"/>
            <a:ext cx="5212080" cy="457200"/>
          </a:xfrm>
          <a:prstGeom prst="rect">
            <a:avLst/>
          </a:prstGeom>
          <a:noFill/>
        </p:spPr>
        <p:txBody>
          <a:bodyPr wrap="square" anchor="t" lIns="0" rIns="0" tIns="0" bIns="0">
            <a:spAutoFit/>
          </a:bodyPr>
          <a:lstStyle/>
          <a:p>
            <a:pPr algn="l"/>
            <a:r>
              <a:rPr sz="1100" b="0" i="0">
                <a:solidFill>
                  <a:srgbClr val="5F6B66"/>
                </a:solidFill>
                <a:latin typeface="Calibri"/>
              </a:rPr>
              <a:t>Drivers are SHAP contributions, grouped so the three reasons are always distinct (e.g. not three ways of saying 'stopped buying').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anchor="t" lIns="0" rIns="0" tIns="0" bIns="0">
            <a:spAutoFit/>
          </a:bodyPr>
          <a:lstStyle/>
          <a:p>
            <a:pPr algn="l"/>
            <a:r>
              <a:rPr sz="1100" b="1" i="0">
                <a:solidFill>
                  <a:srgbClr val="2E7D5B"/>
                </a:solidFill>
                <a:latin typeface="Calibri"/>
              </a:rPr>
              <a:t>ABLATION &amp; SEGMENTS</a:t>
            </a:r>
          </a:p>
        </p:txBody>
      </p:sp>
      <p:sp>
        <p:nvSpPr>
          <p:cNvPr id="3" name="TextBox 2"/>
          <p:cNvSpPr txBox="1"/>
          <p:nvPr/>
        </p:nvSpPr>
        <p:spPr>
          <a:xfrm>
            <a:off x="548640" y="566928"/>
            <a:ext cx="11064240" cy="868680"/>
          </a:xfrm>
          <a:prstGeom prst="rect">
            <a:avLst/>
          </a:prstGeom>
          <a:noFill/>
        </p:spPr>
        <p:txBody>
          <a:bodyPr wrap="square" anchor="t" lIns="0" rIns="0" tIns="0" bIns="0">
            <a:spAutoFit/>
          </a:bodyPr>
          <a:lstStyle/>
          <a:p>
            <a:pPr algn="l"/>
            <a:r>
              <a:rPr sz="2700" b="1" i="0">
                <a:solidFill>
                  <a:srgbClr val="1B1B1B"/>
                </a:solidFill>
                <a:latin typeface="Calibri"/>
              </a:rPr>
              <a:t>Behaviour predicts churn. Demographics alone are no better than chance.</a:t>
            </a:r>
          </a:p>
        </p:txBody>
      </p:sp>
      <p:sp>
        <p:nvSpPr>
          <p:cNvPr id="4" name="TextBox 3"/>
          <p:cNvSpPr txBox="1"/>
          <p:nvPr/>
        </p:nvSpPr>
        <p:spPr>
          <a:xfrm>
            <a:off x="548640" y="6446520"/>
            <a:ext cx="5486400" cy="274320"/>
          </a:xfrm>
          <a:prstGeom prst="rect">
            <a:avLst/>
          </a:prstGeom>
          <a:noFill/>
        </p:spPr>
        <p:txBody>
          <a:bodyPr wrap="square" anchor="t" lIns="0" rIns="0" tIns="0" bIns="0">
            <a:spAutoFit/>
          </a:bodyPr>
          <a:lstStyle/>
          <a:p>
            <a:pPr algn="l"/>
            <a:r>
              <a:rPr sz="900" b="0" i="0">
                <a:solidFill>
                  <a:srgbClr val="5F6B66"/>
                </a:solidFill>
                <a:latin typeface="Calibri"/>
              </a:rPr>
              <a:t>Silent Cart  ·  FreshBasket loyalty churn  ·  10</a:t>
            </a:r>
          </a:p>
        </p:txBody>
      </p:sp>
      <p:pic>
        <p:nvPicPr>
          <p:cNvPr id="5" name="Picture 4" descr="13_segment_risk_active.png"/>
          <p:cNvPicPr>
            <a:picLocks noChangeAspect="1"/>
          </p:cNvPicPr>
          <p:nvPr/>
        </p:nvPicPr>
        <p:blipFill>
          <a:blip r:embed="rId2"/>
          <a:stretch>
            <a:fillRect/>
          </a:stretch>
        </p:blipFill>
        <p:spPr>
          <a:xfrm>
            <a:off x="457200" y="1582747"/>
            <a:ext cx="6492240" cy="2686665"/>
          </a:xfrm>
          <a:prstGeom prst="rect">
            <a:avLst/>
          </a:prstGeom>
        </p:spPr>
      </p:pic>
      <p:sp>
        <p:nvSpPr>
          <p:cNvPr id="6" name="Rounded Rectangle 5"/>
          <p:cNvSpPr/>
          <p:nvPr/>
        </p:nvSpPr>
        <p:spPr>
          <a:xfrm>
            <a:off x="548640" y="4572000"/>
            <a:ext cx="2029968" cy="1600200"/>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736592"/>
            <a:ext cx="1572768" cy="685800"/>
          </a:xfrm>
          <a:prstGeom prst="rect">
            <a:avLst/>
          </a:prstGeom>
          <a:noFill/>
        </p:spPr>
        <p:txBody>
          <a:bodyPr wrap="square" anchor="t" lIns="0" rIns="0" tIns="0" bIns="0">
            <a:spAutoFit/>
          </a:bodyPr>
          <a:lstStyle/>
          <a:p>
            <a:pPr algn="l"/>
            <a:r>
              <a:rPr sz="2200" b="1" i="0">
                <a:solidFill>
                  <a:srgbClr val="2E7D5B"/>
                </a:solidFill>
                <a:latin typeface="Calibri"/>
              </a:rPr>
              <a:t>14% vs 8%</a:t>
            </a:r>
          </a:p>
        </p:txBody>
      </p:sp>
      <p:sp>
        <p:nvSpPr>
          <p:cNvPr id="8" name="TextBox 7"/>
          <p:cNvSpPr txBox="1"/>
          <p:nvPr/>
        </p:nvSpPr>
        <p:spPr>
          <a:xfrm>
            <a:off x="777240" y="5125720"/>
            <a:ext cx="1572768" cy="1000760"/>
          </a:xfrm>
          <a:prstGeom prst="rect">
            <a:avLst/>
          </a:prstGeom>
          <a:noFill/>
        </p:spPr>
        <p:txBody>
          <a:bodyPr wrap="square" anchor="t" lIns="0" rIns="0" tIns="0" bIns="0">
            <a:spAutoFit/>
          </a:bodyPr>
          <a:lstStyle/>
          <a:p>
            <a:pPr algn="l"/>
            <a:r>
              <a:rPr sz="1200" b="0" i="0">
                <a:solidFill>
                  <a:srgbClr val="5F6B66"/>
                </a:solidFill>
                <a:latin typeface="Calibri"/>
              </a:rPr>
              <a:t>predicted risk, Austin vs Nashville (riskiest vs safest city)</a:t>
            </a:r>
          </a:p>
        </p:txBody>
      </p:sp>
      <p:sp>
        <p:nvSpPr>
          <p:cNvPr id="9" name="Rounded Rectangle 8"/>
          <p:cNvSpPr/>
          <p:nvPr/>
        </p:nvSpPr>
        <p:spPr>
          <a:xfrm>
            <a:off x="2715768" y="4572000"/>
            <a:ext cx="2029968" cy="1600200"/>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44368" y="4736592"/>
            <a:ext cx="1572768" cy="685800"/>
          </a:xfrm>
          <a:prstGeom prst="rect">
            <a:avLst/>
          </a:prstGeom>
          <a:noFill/>
        </p:spPr>
        <p:txBody>
          <a:bodyPr wrap="square" anchor="t" lIns="0" rIns="0" tIns="0" bIns="0">
            <a:spAutoFit/>
          </a:bodyPr>
          <a:lstStyle/>
          <a:p>
            <a:pPr algn="l"/>
            <a:r>
              <a:rPr sz="2200" b="1" i="0">
                <a:solidFill>
                  <a:srgbClr val="2E7D5B"/>
                </a:solidFill>
                <a:latin typeface="Calibri"/>
              </a:rPr>
              <a:t>8% vs 11%</a:t>
            </a:r>
          </a:p>
        </p:txBody>
      </p:sp>
      <p:sp>
        <p:nvSpPr>
          <p:cNvPr id="11" name="TextBox 10"/>
          <p:cNvSpPr txBox="1"/>
          <p:nvPr/>
        </p:nvSpPr>
        <p:spPr>
          <a:xfrm>
            <a:off x="2944368" y="5125720"/>
            <a:ext cx="1572768" cy="1000760"/>
          </a:xfrm>
          <a:prstGeom prst="rect">
            <a:avLst/>
          </a:prstGeom>
          <a:noFill/>
        </p:spPr>
        <p:txBody>
          <a:bodyPr wrap="square" anchor="t" lIns="0" rIns="0" tIns="0" bIns="0">
            <a:spAutoFit/>
          </a:bodyPr>
          <a:lstStyle/>
          <a:p>
            <a:pPr algn="l"/>
            <a:r>
              <a:rPr sz="1200" b="0" i="0">
                <a:solidFill>
                  <a:srgbClr val="5F6B66"/>
                </a:solidFill>
                <a:latin typeface="Calibri"/>
              </a:rPr>
              <a:t>Platinum vs Silver predicted risk; observed churn is flat across tiers</a:t>
            </a:r>
          </a:p>
        </p:txBody>
      </p:sp>
      <p:sp>
        <p:nvSpPr>
          <p:cNvPr id="12" name="Rounded Rectangle 11"/>
          <p:cNvSpPr/>
          <p:nvPr/>
        </p:nvSpPr>
        <p:spPr>
          <a:xfrm>
            <a:off x="4882896" y="4572000"/>
            <a:ext cx="2029968" cy="1600200"/>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11496" y="4736592"/>
            <a:ext cx="1572768" cy="685800"/>
          </a:xfrm>
          <a:prstGeom prst="rect">
            <a:avLst/>
          </a:prstGeom>
          <a:noFill/>
        </p:spPr>
        <p:txBody>
          <a:bodyPr wrap="square" anchor="t" lIns="0" rIns="0" tIns="0" bIns="0">
            <a:spAutoFit/>
          </a:bodyPr>
          <a:lstStyle/>
          <a:p>
            <a:pPr algn="l"/>
            <a:r>
              <a:rPr sz="2200" b="1" i="0">
                <a:solidFill>
                  <a:srgbClr val="2E7D5B"/>
                </a:solidFill>
                <a:latin typeface="Calibri"/>
              </a:rPr>
              <a:t>6%</a:t>
            </a:r>
          </a:p>
        </p:txBody>
      </p:sp>
      <p:sp>
        <p:nvSpPr>
          <p:cNvPr id="14" name="TextBox 13"/>
          <p:cNvSpPr txBox="1"/>
          <p:nvPr/>
        </p:nvSpPr>
        <p:spPr>
          <a:xfrm>
            <a:off x="5111496" y="5125720"/>
            <a:ext cx="1572768" cy="1000760"/>
          </a:xfrm>
          <a:prstGeom prst="rect">
            <a:avLst/>
          </a:prstGeom>
          <a:noFill/>
        </p:spPr>
        <p:txBody>
          <a:bodyPr wrap="square" anchor="t" lIns="0" rIns="0" tIns="0" bIns="0">
            <a:spAutoFit/>
          </a:bodyPr>
          <a:lstStyle/>
          <a:p>
            <a:pPr algn="l"/>
            <a:r>
              <a:rPr sz="1200" b="0" i="0">
                <a:solidFill>
                  <a:srgbClr val="5F6B66"/>
                </a:solidFill>
                <a:latin typeface="Calibri"/>
              </a:rPr>
              <a:t>predicted risk for 2024 joiners: a honeymoon period</a:t>
            </a:r>
          </a:p>
        </p:txBody>
      </p:sp>
      <p:sp>
        <p:nvSpPr>
          <p:cNvPr id="15" name="TextBox 14"/>
          <p:cNvSpPr txBox="1"/>
          <p:nvPr/>
        </p:nvSpPr>
        <p:spPr>
          <a:xfrm>
            <a:off x="7223760" y="1508760"/>
            <a:ext cx="4480560" cy="274320"/>
          </a:xfrm>
          <a:prstGeom prst="rect">
            <a:avLst/>
          </a:prstGeom>
          <a:noFill/>
        </p:spPr>
        <p:txBody>
          <a:bodyPr wrap="square" anchor="t" lIns="0" rIns="0" tIns="0" bIns="0">
            <a:spAutoFit/>
          </a:bodyPr>
          <a:lstStyle/>
          <a:p>
            <a:pPr algn="l"/>
            <a:r>
              <a:rPr sz="1200" b="0" i="0">
                <a:solidFill>
                  <a:srgbClr val="5F6B66"/>
                </a:solidFill>
                <a:latin typeface="Calibri"/>
              </a:rPr>
              <a:t>PR-AUC on Active members (test quarter)</a:t>
            </a:r>
          </a:p>
        </p:txBody>
      </p:sp>
      <p:sp>
        <p:nvSpPr>
          <p:cNvPr id="16" name="TextBox 15"/>
          <p:cNvSpPr txBox="1"/>
          <p:nvPr/>
        </p:nvSpPr>
        <p:spPr>
          <a:xfrm>
            <a:off x="7223760" y="1874519"/>
            <a:ext cx="2194560" cy="365760"/>
          </a:xfrm>
          <a:prstGeom prst="rect">
            <a:avLst/>
          </a:prstGeom>
          <a:noFill/>
        </p:spPr>
        <p:txBody>
          <a:bodyPr wrap="square" anchor="t" lIns="0" rIns="0" tIns="0" bIns="0">
            <a:spAutoFit/>
          </a:bodyPr>
          <a:lstStyle/>
          <a:p>
            <a:pPr algn="l"/>
            <a:r>
              <a:rPr sz="1400" b="0" i="0">
                <a:solidFill>
                  <a:srgbClr val="1B1B1B"/>
                </a:solidFill>
                <a:latin typeface="Calibri"/>
              </a:rPr>
              <a:t>Demographics only</a:t>
            </a:r>
          </a:p>
        </p:txBody>
      </p:sp>
      <p:sp>
        <p:nvSpPr>
          <p:cNvPr id="17" name="Rounded Rectangle 16"/>
          <p:cNvSpPr/>
          <p:nvPr/>
        </p:nvSpPr>
        <p:spPr>
          <a:xfrm>
            <a:off x="9326880" y="1911095"/>
            <a:ext cx="196596" cy="274320"/>
          </a:xfrm>
          <a:prstGeom prst="roundRect">
            <a:avLst/>
          </a:prstGeom>
          <a:solidFill>
            <a:srgbClr val="B8C2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14916" y="1874519"/>
            <a:ext cx="548640" cy="365760"/>
          </a:xfrm>
          <a:prstGeom prst="rect">
            <a:avLst/>
          </a:prstGeom>
          <a:noFill/>
        </p:spPr>
        <p:txBody>
          <a:bodyPr wrap="square" anchor="t" lIns="0" rIns="0" tIns="0" bIns="0">
            <a:spAutoFit/>
          </a:bodyPr>
          <a:lstStyle/>
          <a:p>
            <a:pPr algn="l"/>
            <a:r>
              <a:rPr sz="1300" b="1" i="0">
                <a:solidFill>
                  <a:srgbClr val="1B1B1B"/>
                </a:solidFill>
                <a:latin typeface="Calibri"/>
              </a:rPr>
              <a:t>0.11</a:t>
            </a:r>
          </a:p>
        </p:txBody>
      </p:sp>
      <p:sp>
        <p:nvSpPr>
          <p:cNvPr id="19" name="TextBox 18"/>
          <p:cNvSpPr txBox="1"/>
          <p:nvPr/>
        </p:nvSpPr>
        <p:spPr>
          <a:xfrm>
            <a:off x="7223760" y="2386584"/>
            <a:ext cx="2194560" cy="365760"/>
          </a:xfrm>
          <a:prstGeom prst="rect">
            <a:avLst/>
          </a:prstGeom>
          <a:noFill/>
        </p:spPr>
        <p:txBody>
          <a:bodyPr wrap="square" anchor="t" lIns="0" rIns="0" tIns="0" bIns="0">
            <a:spAutoFit/>
          </a:bodyPr>
          <a:lstStyle/>
          <a:p>
            <a:pPr algn="l"/>
            <a:r>
              <a:rPr sz="1400" b="1" i="0">
                <a:solidFill>
                  <a:srgbClr val="1B1B1B"/>
                </a:solidFill>
                <a:latin typeface="Calibri"/>
              </a:rPr>
              <a:t>+ Behavioural</a:t>
            </a:r>
          </a:p>
        </p:txBody>
      </p:sp>
      <p:sp>
        <p:nvSpPr>
          <p:cNvPr id="20" name="Rounded Rectangle 19"/>
          <p:cNvSpPr/>
          <p:nvPr/>
        </p:nvSpPr>
        <p:spPr>
          <a:xfrm>
            <a:off x="9326880" y="2423160"/>
            <a:ext cx="1206642" cy="274320"/>
          </a:xfrm>
          <a:prstGeom prst="roundRect">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24962" y="2386584"/>
            <a:ext cx="548640" cy="365760"/>
          </a:xfrm>
          <a:prstGeom prst="rect">
            <a:avLst/>
          </a:prstGeom>
          <a:noFill/>
        </p:spPr>
        <p:txBody>
          <a:bodyPr wrap="square" anchor="t" lIns="0" rIns="0" tIns="0" bIns="0">
            <a:spAutoFit/>
          </a:bodyPr>
          <a:lstStyle/>
          <a:p>
            <a:pPr algn="l"/>
            <a:r>
              <a:rPr sz="1300" b="1" i="0">
                <a:solidFill>
                  <a:srgbClr val="1B1B1B"/>
                </a:solidFill>
                <a:latin typeface="Calibri"/>
              </a:rPr>
              <a:t>0.66</a:t>
            </a:r>
          </a:p>
        </p:txBody>
      </p:sp>
      <p:sp>
        <p:nvSpPr>
          <p:cNvPr id="22" name="TextBox 21"/>
          <p:cNvSpPr txBox="1"/>
          <p:nvPr/>
        </p:nvSpPr>
        <p:spPr>
          <a:xfrm>
            <a:off x="7223760" y="2898648"/>
            <a:ext cx="2194560" cy="365760"/>
          </a:xfrm>
          <a:prstGeom prst="rect">
            <a:avLst/>
          </a:prstGeom>
          <a:noFill/>
        </p:spPr>
        <p:txBody>
          <a:bodyPr wrap="square" anchor="t" lIns="0" rIns="0" tIns="0" bIns="0">
            <a:spAutoFit/>
          </a:bodyPr>
          <a:lstStyle/>
          <a:p>
            <a:pPr algn="l"/>
            <a:r>
              <a:rPr sz="1400" b="1" i="0">
                <a:solidFill>
                  <a:srgbClr val="1B1B1B"/>
                </a:solidFill>
                <a:latin typeface="Calibri"/>
              </a:rPr>
              <a:t>+ Engagement</a:t>
            </a:r>
          </a:p>
        </p:txBody>
      </p:sp>
      <p:sp>
        <p:nvSpPr>
          <p:cNvPr id="23" name="Rounded Rectangle 22"/>
          <p:cNvSpPr/>
          <p:nvPr/>
        </p:nvSpPr>
        <p:spPr>
          <a:xfrm>
            <a:off x="9326880" y="2935224"/>
            <a:ext cx="1415856" cy="274320"/>
          </a:xfrm>
          <a:prstGeom prst="roundRect">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34176" y="2898648"/>
            <a:ext cx="548640" cy="365760"/>
          </a:xfrm>
          <a:prstGeom prst="rect">
            <a:avLst/>
          </a:prstGeom>
          <a:noFill/>
        </p:spPr>
        <p:txBody>
          <a:bodyPr wrap="square" anchor="t" lIns="0" rIns="0" tIns="0" bIns="0">
            <a:spAutoFit/>
          </a:bodyPr>
          <a:lstStyle/>
          <a:p>
            <a:pPr algn="l"/>
            <a:r>
              <a:rPr sz="1300" b="1" i="0">
                <a:solidFill>
                  <a:srgbClr val="1B1B1B"/>
                </a:solidFill>
                <a:latin typeface="Calibri"/>
              </a:rPr>
              <a:t>0.77</a:t>
            </a:r>
          </a:p>
        </p:txBody>
      </p:sp>
      <p:sp>
        <p:nvSpPr>
          <p:cNvPr id="25" name="TextBox 24"/>
          <p:cNvSpPr txBox="1"/>
          <p:nvPr/>
        </p:nvSpPr>
        <p:spPr>
          <a:xfrm>
            <a:off x="7223760" y="3410712"/>
            <a:ext cx="2194560" cy="365760"/>
          </a:xfrm>
          <a:prstGeom prst="rect">
            <a:avLst/>
          </a:prstGeom>
          <a:noFill/>
        </p:spPr>
        <p:txBody>
          <a:bodyPr wrap="square" anchor="t" lIns="0" rIns="0" tIns="0" bIns="0">
            <a:spAutoFit/>
          </a:bodyPr>
          <a:lstStyle/>
          <a:p>
            <a:pPr algn="l"/>
            <a:r>
              <a:rPr sz="1400" b="0" i="0">
                <a:solidFill>
                  <a:srgbClr val="1B1B1B"/>
                </a:solidFill>
                <a:latin typeface="Calibri"/>
              </a:rPr>
              <a:t>+ Support</a:t>
            </a:r>
          </a:p>
        </p:txBody>
      </p:sp>
      <p:sp>
        <p:nvSpPr>
          <p:cNvPr id="26" name="Rounded Rectangle 25"/>
          <p:cNvSpPr/>
          <p:nvPr/>
        </p:nvSpPr>
        <p:spPr>
          <a:xfrm>
            <a:off x="9326880" y="3447288"/>
            <a:ext cx="1459565" cy="274320"/>
          </a:xfrm>
          <a:prstGeom prst="roundRect">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77885" y="3410712"/>
            <a:ext cx="548640" cy="365760"/>
          </a:xfrm>
          <a:prstGeom prst="rect">
            <a:avLst/>
          </a:prstGeom>
          <a:noFill/>
        </p:spPr>
        <p:txBody>
          <a:bodyPr wrap="square" anchor="t" lIns="0" rIns="0" tIns="0" bIns="0">
            <a:spAutoFit/>
          </a:bodyPr>
          <a:lstStyle/>
          <a:p>
            <a:pPr algn="l"/>
            <a:r>
              <a:rPr sz="1300" b="1" i="0">
                <a:solidFill>
                  <a:srgbClr val="1B1B1B"/>
                </a:solidFill>
                <a:latin typeface="Calibri"/>
              </a:rPr>
              <a:t>0.80</a:t>
            </a:r>
          </a:p>
        </p:txBody>
      </p:sp>
      <p:sp>
        <p:nvSpPr>
          <p:cNvPr id="28" name="TextBox 27"/>
          <p:cNvSpPr txBox="1"/>
          <p:nvPr/>
        </p:nvSpPr>
        <p:spPr>
          <a:xfrm>
            <a:off x="7223760" y="3922776"/>
            <a:ext cx="2194560" cy="365760"/>
          </a:xfrm>
          <a:prstGeom prst="rect">
            <a:avLst/>
          </a:prstGeom>
          <a:noFill/>
        </p:spPr>
        <p:txBody>
          <a:bodyPr wrap="square" anchor="t" lIns="0" rIns="0" tIns="0" bIns="0">
            <a:spAutoFit/>
          </a:bodyPr>
          <a:lstStyle/>
          <a:p>
            <a:pPr algn="l"/>
            <a:r>
              <a:rPr sz="1400" b="0" i="0">
                <a:solidFill>
                  <a:srgbClr val="1B1B1B"/>
                </a:solidFill>
                <a:latin typeface="Calibri"/>
              </a:rPr>
              <a:t>All features</a:t>
            </a:r>
          </a:p>
        </p:txBody>
      </p:sp>
      <p:sp>
        <p:nvSpPr>
          <p:cNvPr id="29" name="Rounded Rectangle 28"/>
          <p:cNvSpPr/>
          <p:nvPr/>
        </p:nvSpPr>
        <p:spPr>
          <a:xfrm>
            <a:off x="9326880" y="3959352"/>
            <a:ext cx="1475110" cy="274320"/>
          </a:xfrm>
          <a:prstGeom prst="roundRect">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93430" y="3922776"/>
            <a:ext cx="548640" cy="365760"/>
          </a:xfrm>
          <a:prstGeom prst="rect">
            <a:avLst/>
          </a:prstGeom>
          <a:noFill/>
        </p:spPr>
        <p:txBody>
          <a:bodyPr wrap="square" anchor="t" lIns="0" rIns="0" tIns="0" bIns="0">
            <a:spAutoFit/>
          </a:bodyPr>
          <a:lstStyle/>
          <a:p>
            <a:pPr algn="l"/>
            <a:r>
              <a:rPr sz="1300" b="1" i="0">
                <a:solidFill>
                  <a:srgbClr val="1B1B1B"/>
                </a:solidFill>
                <a:latin typeface="Calibri"/>
              </a:rPr>
              <a:t>0.81</a:t>
            </a:r>
          </a:p>
        </p:txBody>
      </p:sp>
      <p:sp>
        <p:nvSpPr>
          <p:cNvPr id="31" name="TextBox 30"/>
          <p:cNvSpPr txBox="1"/>
          <p:nvPr/>
        </p:nvSpPr>
        <p:spPr>
          <a:xfrm>
            <a:off x="7223760" y="4572000"/>
            <a:ext cx="4480560" cy="1828800"/>
          </a:xfrm>
          <a:prstGeom prst="rect">
            <a:avLst/>
          </a:prstGeom>
          <a:noFill/>
        </p:spPr>
        <p:txBody>
          <a:bodyPr wrap="square" lIns="0" rIns="0" tIns="0" bIns="0">
            <a:spAutoFit/>
          </a:bodyPr>
          <a:lstStyle/>
          <a:p>
            <a:pPr>
              <a:spcAft>
                <a:spcPts val="800"/>
              </a:spcAft>
            </a:pPr>
            <a:r>
              <a:rPr sz="1300" b="0">
                <a:solidFill>
                  <a:srgbClr val="2E7D5B"/>
                </a:solidFill>
                <a:latin typeface="Calibri"/>
              </a:rPr>
              <a:t>•  </a:t>
            </a:r>
            <a:r>
              <a:rPr sz="1300" b="1">
                <a:solidFill>
                  <a:srgbClr val="1B1B1B"/>
                </a:solidFill>
                <a:latin typeface="Calibri"/>
              </a:rPr>
              <a:t>Base rate is 9.6%: </a:t>
            </a:r>
            <a:r>
              <a:rPr sz="1300" b="0">
                <a:solidFill>
                  <a:srgbClr val="1B1B1B"/>
                </a:solidFill>
                <a:latin typeface="Calibri"/>
              </a:rPr>
              <a:t>demographics-only adds nothing</a:t>
            </a:r>
          </a:p>
          <a:p>
            <a:pPr>
              <a:spcAft>
                <a:spcPts val="800"/>
              </a:spcAft>
            </a:pPr>
            <a:r>
              <a:rPr sz="1300" b="0">
                <a:solidFill>
                  <a:srgbClr val="2E7D5B"/>
                </a:solidFill>
                <a:latin typeface="Calibri"/>
              </a:rPr>
              <a:t>•  </a:t>
            </a:r>
            <a:r>
              <a:rPr sz="1300" b="1">
                <a:solidFill>
                  <a:srgbClr val="1B1B1B"/>
                </a:solidFill>
                <a:latin typeface="Calibri"/>
              </a:rPr>
              <a:t>Engagement adds +0.11, support +0.02 </a:t>
            </a:r>
            <a:r>
              <a:rPr sz="1300" b="0">
                <a:solidFill>
                  <a:srgbClr val="1B1B1B"/>
                </a:solidFill>
                <a:latin typeface="Calibri"/>
              </a:rPr>
              <a:t>on top of behaviour</a:t>
            </a:r>
          </a:p>
          <a:p>
            <a:pPr>
              <a:spcAft>
                <a:spcPts val="800"/>
              </a:spcAft>
            </a:pPr>
            <a:r>
              <a:rPr sz="1300" b="0">
                <a:solidFill>
                  <a:srgbClr val="2E7D5B"/>
                </a:solidFill>
                <a:latin typeface="Calibri"/>
              </a:rPr>
              <a:t>•  </a:t>
            </a:r>
            <a:r>
              <a:rPr sz="1300" b="1">
                <a:solidFill>
                  <a:srgbClr val="1B1B1B"/>
                </a:solidFill>
                <a:latin typeface="Calibri"/>
              </a:rPr>
              <a:t>Segments </a:t>
            </a:r>
            <a:r>
              <a:rPr sz="1300" b="0">
                <a:solidFill>
                  <a:srgbClr val="1B1B1B"/>
                </a:solidFill>
                <a:latin typeface="Calibri"/>
              </a:rPr>
              <a:t>differ far less than behaviour: use them for logistics (which team, which channel), not for targeting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anchor="t" lIns="0" rIns="0" tIns="0" bIns="0">
            <a:spAutoFit/>
          </a:bodyPr>
          <a:lstStyle/>
          <a:p>
            <a:pPr algn="l"/>
            <a:r>
              <a:rPr sz="1100" b="1" i="0">
                <a:solidFill>
                  <a:srgbClr val="2E7D5B"/>
                </a:solidFill>
                <a:latin typeface="Calibri"/>
              </a:rPr>
              <a:t>RETENTION SCENARIOS · THIS COHORT, NEXT QUARTER</a:t>
            </a:r>
          </a:p>
        </p:txBody>
      </p:sp>
      <p:sp>
        <p:nvSpPr>
          <p:cNvPr id="3" name="TextBox 2"/>
          <p:cNvSpPr txBox="1"/>
          <p:nvPr/>
        </p:nvSpPr>
        <p:spPr>
          <a:xfrm>
            <a:off x="548640" y="566928"/>
            <a:ext cx="11064240" cy="868680"/>
          </a:xfrm>
          <a:prstGeom prst="rect">
            <a:avLst/>
          </a:prstGeom>
          <a:noFill/>
        </p:spPr>
        <p:txBody>
          <a:bodyPr wrap="square" anchor="t" lIns="0" rIns="0" tIns="0" bIns="0">
            <a:spAutoFit/>
          </a:bodyPr>
          <a:lstStyle/>
          <a:p>
            <a:pPr algn="l"/>
            <a:r>
              <a:rPr sz="2700" b="1" i="0">
                <a:solidFill>
                  <a:srgbClr val="1B1B1B"/>
                </a:solidFill>
                <a:latin typeface="Calibri"/>
              </a:rPr>
              <a:t>Targeting turns retention from a cost into a return</a:t>
            </a:r>
          </a:p>
        </p:txBody>
      </p:sp>
      <p:sp>
        <p:nvSpPr>
          <p:cNvPr id="4" name="TextBox 3"/>
          <p:cNvSpPr txBox="1"/>
          <p:nvPr/>
        </p:nvSpPr>
        <p:spPr>
          <a:xfrm>
            <a:off x="548640" y="6446520"/>
            <a:ext cx="5486400" cy="274320"/>
          </a:xfrm>
          <a:prstGeom prst="rect">
            <a:avLst/>
          </a:prstGeom>
          <a:noFill/>
        </p:spPr>
        <p:txBody>
          <a:bodyPr wrap="square" anchor="t" lIns="0" rIns="0" tIns="0" bIns="0">
            <a:spAutoFit/>
          </a:bodyPr>
          <a:lstStyle/>
          <a:p>
            <a:pPr algn="l"/>
            <a:r>
              <a:rPr sz="900" b="0" i="0">
                <a:solidFill>
                  <a:srgbClr val="5F6B66"/>
                </a:solidFill>
                <a:latin typeface="Calibri"/>
              </a:rPr>
              <a:t>Silent Cart  ·  FreshBasket loyalty churn  ·  11</a:t>
            </a:r>
          </a:p>
        </p:txBody>
      </p:sp>
      <p:pic>
        <p:nvPicPr>
          <p:cNvPr id="5" name="Picture 4" descr="14_retention_scenarios.png"/>
          <p:cNvPicPr>
            <a:picLocks noChangeAspect="1"/>
          </p:cNvPicPr>
          <p:nvPr/>
        </p:nvPicPr>
        <p:blipFill>
          <a:blip r:embed="rId2"/>
          <a:stretch>
            <a:fillRect/>
          </a:stretch>
        </p:blipFill>
        <p:spPr>
          <a:xfrm>
            <a:off x="772732" y="1371600"/>
            <a:ext cx="7232775" cy="2377440"/>
          </a:xfrm>
          <a:prstGeom prst="rect">
            <a:avLst/>
          </a:prstGeom>
        </p:spPr>
      </p:pic>
      <p:pic>
        <p:nvPicPr>
          <p:cNvPr id="6" name="Picture 5" descr="15_scenario_sensitivity.png"/>
          <p:cNvPicPr>
            <a:picLocks noChangeAspect="1"/>
          </p:cNvPicPr>
          <p:nvPr/>
        </p:nvPicPr>
        <p:blipFill>
          <a:blip r:embed="rId3"/>
          <a:stretch>
            <a:fillRect/>
          </a:stretch>
        </p:blipFill>
        <p:spPr>
          <a:xfrm>
            <a:off x="475118" y="3840480"/>
            <a:ext cx="4901922" cy="2514600"/>
          </a:xfrm>
          <a:prstGeom prst="rect">
            <a:avLst/>
          </a:prstGeom>
        </p:spPr>
      </p:pic>
      <p:sp>
        <p:nvSpPr>
          <p:cNvPr id="7" name="Rounded Rectangle 6"/>
          <p:cNvSpPr/>
          <p:nvPr/>
        </p:nvSpPr>
        <p:spPr>
          <a:xfrm>
            <a:off x="8595360" y="1463040"/>
            <a:ext cx="3108960" cy="1325880"/>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23960" y="1627632"/>
            <a:ext cx="2651760" cy="685800"/>
          </a:xfrm>
          <a:prstGeom prst="rect">
            <a:avLst/>
          </a:prstGeom>
          <a:noFill/>
        </p:spPr>
        <p:txBody>
          <a:bodyPr wrap="square" anchor="t" lIns="0" rIns="0" tIns="0" bIns="0">
            <a:spAutoFit/>
          </a:bodyPr>
          <a:lstStyle/>
          <a:p>
            <a:pPr algn="l"/>
            <a:r>
              <a:rPr sz="3400" b="1" i="0">
                <a:solidFill>
                  <a:srgbClr val="EB6834"/>
                </a:solidFill>
                <a:latin typeface="Calibri"/>
              </a:rPr>
              <a:t>−$15.4k</a:t>
            </a:r>
          </a:p>
        </p:txBody>
      </p:sp>
      <p:sp>
        <p:nvSpPr>
          <p:cNvPr id="9" name="TextBox 8"/>
          <p:cNvSpPr txBox="1"/>
          <p:nvPr/>
        </p:nvSpPr>
        <p:spPr>
          <a:xfrm>
            <a:off x="8823960" y="2169160"/>
            <a:ext cx="2651760" cy="574040"/>
          </a:xfrm>
          <a:prstGeom prst="rect">
            <a:avLst/>
          </a:prstGeom>
          <a:noFill/>
        </p:spPr>
        <p:txBody>
          <a:bodyPr wrap="square" anchor="t" lIns="0" rIns="0" tIns="0" bIns="0">
            <a:spAutoFit/>
          </a:bodyPr>
          <a:lstStyle/>
          <a:p>
            <a:pPr algn="l"/>
            <a:r>
              <a:rPr sz="1200" b="0" i="0">
                <a:solidFill>
                  <a:srgbClr val="5F6B66"/>
                </a:solidFill>
                <a:latin typeface="Calibri"/>
              </a:rPr>
              <a:t>Blanket coupon to all 2,368 members: $23.7k spent</a:t>
            </a:r>
          </a:p>
        </p:txBody>
      </p:sp>
      <p:sp>
        <p:nvSpPr>
          <p:cNvPr id="10" name="Rounded Rectangle 9"/>
          <p:cNvSpPr/>
          <p:nvPr/>
        </p:nvSpPr>
        <p:spPr>
          <a:xfrm>
            <a:off x="8595360" y="2926080"/>
            <a:ext cx="3108960" cy="1463040"/>
          </a:xfrm>
          <a:prstGeom prst="roundRect">
            <a:avLst>
              <a:gd name="adj" fmla="val 8000"/>
            </a:avLst>
          </a:prstGeom>
          <a:solidFill>
            <a:srgbClr val="EE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23960" y="3090672"/>
            <a:ext cx="2651760" cy="685800"/>
          </a:xfrm>
          <a:prstGeom prst="rect">
            <a:avLst/>
          </a:prstGeom>
          <a:noFill/>
        </p:spPr>
        <p:txBody>
          <a:bodyPr wrap="square" anchor="t" lIns="0" rIns="0" tIns="0" bIns="0">
            <a:spAutoFit/>
          </a:bodyPr>
          <a:lstStyle/>
          <a:p>
            <a:pPr algn="l"/>
            <a:r>
              <a:rPr sz="3400" b="1" i="0">
                <a:solidFill>
                  <a:srgbClr val="2E7D5B"/>
                </a:solidFill>
                <a:latin typeface="Calibri"/>
              </a:rPr>
              <a:t>+$3.6k</a:t>
            </a:r>
          </a:p>
        </p:txBody>
      </p:sp>
      <p:sp>
        <p:nvSpPr>
          <p:cNvPr id="12" name="TextBox 11"/>
          <p:cNvSpPr txBox="1"/>
          <p:nvPr/>
        </p:nvSpPr>
        <p:spPr>
          <a:xfrm>
            <a:off x="8823960" y="3632200"/>
            <a:ext cx="2651760" cy="711200"/>
          </a:xfrm>
          <a:prstGeom prst="rect">
            <a:avLst/>
          </a:prstGeom>
          <a:noFill/>
        </p:spPr>
        <p:txBody>
          <a:bodyPr wrap="square" anchor="t" lIns="0" rIns="0" tIns="0" bIns="0">
            <a:spAutoFit/>
          </a:bodyPr>
          <a:lstStyle/>
          <a:p>
            <a:pPr algn="l"/>
            <a:r>
              <a:rPr sz="1200" b="0" i="0">
                <a:solidFill>
                  <a:srgbClr val="5F6B66"/>
                </a:solidFill>
                <a:latin typeface="Calibri"/>
              </a:rPr>
              <a:t>Next-best-action playbook: 549 members, $3.9k spent, ~43 churners prevented</a:t>
            </a:r>
          </a:p>
        </p:txBody>
      </p:sp>
      <p:sp>
        <p:nvSpPr>
          <p:cNvPr id="13" name="TextBox 12"/>
          <p:cNvSpPr txBox="1"/>
          <p:nvPr/>
        </p:nvSpPr>
        <p:spPr>
          <a:xfrm>
            <a:off x="5669280" y="4572000"/>
            <a:ext cx="6035040" cy="1828800"/>
          </a:xfrm>
          <a:prstGeom prst="rect">
            <a:avLst/>
          </a:prstGeom>
          <a:noFill/>
        </p:spPr>
        <p:txBody>
          <a:bodyPr wrap="square" lIns="0" rIns="0" tIns="0" bIns="0">
            <a:spAutoFit/>
          </a:bodyPr>
          <a:lstStyle/>
          <a:p>
            <a:pPr>
              <a:spcAft>
                <a:spcPts val="800"/>
              </a:spcAft>
            </a:pPr>
            <a:r>
              <a:rPr sz="1300" b="0">
                <a:solidFill>
                  <a:srgbClr val="2E7D5B"/>
                </a:solidFill>
                <a:latin typeface="Calibri"/>
              </a:rPr>
              <a:t>•  </a:t>
            </a:r>
            <a:r>
              <a:rPr sz="1300" b="1">
                <a:solidFill>
                  <a:srgbClr val="1B1B1B"/>
                </a:solidFill>
                <a:latin typeface="Calibri"/>
              </a:rPr>
              <a:t>Support outreach: </a:t>
            </a:r>
            <a:r>
              <a:rPr sz="1300" b="0">
                <a:solidFill>
                  <a:srgbClr val="1B1B1B"/>
                </a:solidFill>
                <a:latin typeface="Calibri"/>
              </a:rPr>
              <a:t>call everyone with tickets = −$2.3k; call only model-flagged = +$1.4k</a:t>
            </a:r>
          </a:p>
          <a:p>
            <a:pPr>
              <a:spcAft>
                <a:spcPts val="800"/>
              </a:spcAft>
            </a:pPr>
            <a:r>
              <a:rPr sz="1300" b="0">
                <a:solidFill>
                  <a:srgbClr val="2E7D5B"/>
                </a:solidFill>
                <a:latin typeface="Calibri"/>
              </a:rPr>
              <a:t>•  </a:t>
            </a:r>
            <a:r>
              <a:rPr sz="1300" b="1">
                <a:solidFill>
                  <a:srgbClr val="1B1B1B"/>
                </a:solidFill>
                <a:latin typeface="Calibri"/>
              </a:rPr>
              <a:t>Model what-if: </a:t>
            </a:r>
            <a:r>
              <a:rPr sz="1300" b="0">
                <a:solidFill>
                  <a:srgbClr val="1B1B1B"/>
                </a:solidFill>
                <a:latin typeface="Calibri"/>
              </a:rPr>
              <a:t>resolving tickets cuts their mean risk 23% → 14% (upper bound)</a:t>
            </a:r>
          </a:p>
          <a:p>
            <a:pPr>
              <a:spcAft>
                <a:spcPts val="800"/>
              </a:spcAft>
            </a:pPr>
            <a:r>
              <a:rPr sz="1300" b="0">
                <a:solidFill>
                  <a:srgbClr val="2E7D5B"/>
                </a:solidFill>
                <a:latin typeface="Calibri"/>
              </a:rPr>
              <a:t>•  </a:t>
            </a:r>
            <a:r>
              <a:rPr sz="1300" b="1">
                <a:solidFill>
                  <a:srgbClr val="1B1B1B"/>
                </a:solidFill>
                <a:latin typeface="Calibri"/>
              </a:rPr>
              <a:t>Robust: </a:t>
            </a:r>
            <a:r>
              <a:rPr sz="1300" b="0">
                <a:solidFill>
                  <a:srgbClr val="1B1B1B"/>
                </a:solidFill>
                <a:latin typeface="Calibri"/>
              </a:rPr>
              <a:t>targeted coupon breaks even at 9% uplift (assumed 15%); blanket never does in range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32A"/>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anchor="t" lIns="0" rIns="0" tIns="0" bIns="0">
            <a:spAutoFit/>
          </a:bodyPr>
          <a:lstStyle/>
          <a:p>
            <a:pPr algn="l"/>
            <a:r>
              <a:rPr sz="1100" b="1" i="0">
                <a:solidFill>
                  <a:srgbClr val="BFE3CF"/>
                </a:solidFill>
                <a:latin typeface="Calibri"/>
              </a:rPr>
              <a:t>WHAT TO DO NEXT</a:t>
            </a:r>
          </a:p>
        </p:txBody>
      </p:sp>
      <p:sp>
        <p:nvSpPr>
          <p:cNvPr id="3" name="TextBox 2"/>
          <p:cNvSpPr txBox="1"/>
          <p:nvPr/>
        </p:nvSpPr>
        <p:spPr>
          <a:xfrm>
            <a:off x="548640" y="566928"/>
            <a:ext cx="11064240" cy="868680"/>
          </a:xfrm>
          <a:prstGeom prst="rect">
            <a:avLst/>
          </a:prstGeom>
          <a:noFill/>
        </p:spPr>
        <p:txBody>
          <a:bodyPr wrap="square" anchor="t" lIns="0" rIns="0" tIns="0" bIns="0">
            <a:spAutoFit/>
          </a:bodyPr>
          <a:lstStyle/>
          <a:p>
            <a:pPr algn="l"/>
            <a:r>
              <a:rPr sz="2700" b="1" i="0">
                <a:solidFill>
                  <a:srgbClr val="FFFFFF"/>
                </a:solidFill>
                <a:latin typeface="Calibri"/>
              </a:rPr>
              <a:t>Recommendations: a 90-day plan</a:t>
            </a:r>
          </a:p>
        </p:txBody>
      </p:sp>
      <p:sp>
        <p:nvSpPr>
          <p:cNvPr id="4" name="Rounded Rectangle 3"/>
          <p:cNvSpPr/>
          <p:nvPr/>
        </p:nvSpPr>
        <p:spPr>
          <a:xfrm>
            <a:off x="548640" y="1645920"/>
            <a:ext cx="5440680" cy="1051560"/>
          </a:xfrm>
          <a:prstGeom prst="roundRect">
            <a:avLst>
              <a:gd name="adj" fmla="val 8000"/>
            </a:avLst>
          </a:prstGeom>
          <a:solidFill>
            <a:srgbClr val="224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49808" y="1947672"/>
            <a:ext cx="384048" cy="384048"/>
          </a:xfrm>
          <a:prstGeom prst="ellipse">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1325880" y="1773936"/>
            <a:ext cx="4480560" cy="320040"/>
          </a:xfrm>
          <a:prstGeom prst="rect">
            <a:avLst/>
          </a:prstGeom>
          <a:noFill/>
        </p:spPr>
        <p:txBody>
          <a:bodyPr wrap="square" anchor="t" lIns="0" rIns="0" tIns="0" bIns="0">
            <a:spAutoFit/>
          </a:bodyPr>
          <a:lstStyle/>
          <a:p>
            <a:pPr algn="l"/>
            <a:r>
              <a:rPr sz="1600" b="1" i="0">
                <a:solidFill>
                  <a:srgbClr val="FFFFFF"/>
                </a:solidFill>
                <a:latin typeface="Calibri"/>
              </a:rPr>
              <a:t>Redefine the KPI</a:t>
            </a:r>
          </a:p>
        </p:txBody>
      </p:sp>
      <p:sp>
        <p:nvSpPr>
          <p:cNvPr id="7" name="TextBox 6"/>
          <p:cNvSpPr txBox="1"/>
          <p:nvPr/>
        </p:nvSpPr>
        <p:spPr>
          <a:xfrm>
            <a:off x="1325880" y="2103120"/>
            <a:ext cx="4480560" cy="548640"/>
          </a:xfrm>
          <a:prstGeom prst="rect">
            <a:avLst/>
          </a:prstGeom>
          <a:noFill/>
        </p:spPr>
        <p:txBody>
          <a:bodyPr wrap="square" anchor="t" lIns="0" rIns="0" tIns="0" bIns="0">
            <a:spAutoFit/>
          </a:bodyPr>
          <a:lstStyle/>
          <a:p>
            <a:pPr algn="l"/>
            <a:r>
              <a:rPr sz="1200" b="0" i="0">
                <a:solidFill>
                  <a:srgbClr val="BFE3CF"/>
                </a:solidFill>
                <a:latin typeface="Calibri"/>
              </a:rPr>
              <a:t>Report Lapsed and At-risk Active separately; add a 60-day no-purchase trigger</a:t>
            </a:r>
          </a:p>
        </p:txBody>
      </p:sp>
      <p:sp>
        <p:nvSpPr>
          <p:cNvPr id="8" name="Rounded Rectangle 7"/>
          <p:cNvSpPr/>
          <p:nvPr/>
        </p:nvSpPr>
        <p:spPr>
          <a:xfrm>
            <a:off x="6172200" y="1645920"/>
            <a:ext cx="5440680" cy="1051560"/>
          </a:xfrm>
          <a:prstGeom prst="roundRect">
            <a:avLst>
              <a:gd name="adj" fmla="val 8000"/>
            </a:avLst>
          </a:prstGeom>
          <a:solidFill>
            <a:srgbClr val="224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373368" y="1947672"/>
            <a:ext cx="384048" cy="384048"/>
          </a:xfrm>
          <a:prstGeom prst="ellipse">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0" name="TextBox 9"/>
          <p:cNvSpPr txBox="1"/>
          <p:nvPr/>
        </p:nvSpPr>
        <p:spPr>
          <a:xfrm>
            <a:off x="6949440" y="1773936"/>
            <a:ext cx="4480560" cy="320040"/>
          </a:xfrm>
          <a:prstGeom prst="rect">
            <a:avLst/>
          </a:prstGeom>
          <a:noFill/>
        </p:spPr>
        <p:txBody>
          <a:bodyPr wrap="square" anchor="t" lIns="0" rIns="0" tIns="0" bIns="0">
            <a:spAutoFit/>
          </a:bodyPr>
          <a:lstStyle/>
          <a:p>
            <a:pPr algn="l"/>
            <a:r>
              <a:rPr sz="1600" b="1" i="0">
                <a:solidFill>
                  <a:srgbClr val="FFFFFF"/>
                </a:solidFill>
                <a:latin typeface="Calibri"/>
              </a:rPr>
              <a:t>Run the playbook monthly</a:t>
            </a:r>
          </a:p>
        </p:txBody>
      </p:sp>
      <p:sp>
        <p:nvSpPr>
          <p:cNvPr id="11" name="TextBox 10"/>
          <p:cNvSpPr txBox="1"/>
          <p:nvPr/>
        </p:nvSpPr>
        <p:spPr>
          <a:xfrm>
            <a:off x="6949440" y="2103120"/>
            <a:ext cx="4480560" cy="548640"/>
          </a:xfrm>
          <a:prstGeom prst="rect">
            <a:avLst/>
          </a:prstGeom>
          <a:noFill/>
        </p:spPr>
        <p:txBody>
          <a:bodyPr wrap="square" anchor="t" lIns="0" rIns="0" tIns="0" bIns="0">
            <a:spAutoFit/>
          </a:bodyPr>
          <a:lstStyle/>
          <a:p>
            <a:pPr algn="l"/>
            <a:r>
              <a:rPr sz="1200" b="0" i="0">
                <a:solidFill>
                  <a:srgbClr val="BFE3CF"/>
                </a:solidFill>
                <a:latin typeface="Calibri"/>
              </a:rPr>
              <a:t>Score all members; route each to service call, coupon, win-back or no action by expected value</a:t>
            </a:r>
          </a:p>
        </p:txBody>
      </p:sp>
      <p:sp>
        <p:nvSpPr>
          <p:cNvPr id="12" name="Rounded Rectangle 11"/>
          <p:cNvSpPr/>
          <p:nvPr/>
        </p:nvSpPr>
        <p:spPr>
          <a:xfrm>
            <a:off x="548640" y="2852928"/>
            <a:ext cx="5440680" cy="1051560"/>
          </a:xfrm>
          <a:prstGeom prst="roundRect">
            <a:avLst>
              <a:gd name="adj" fmla="val 8000"/>
            </a:avLst>
          </a:prstGeom>
          <a:solidFill>
            <a:srgbClr val="224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49808" y="3154680"/>
            <a:ext cx="384048" cy="384048"/>
          </a:xfrm>
          <a:prstGeom prst="ellipse">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4" name="TextBox 13"/>
          <p:cNvSpPr txBox="1"/>
          <p:nvPr/>
        </p:nvSpPr>
        <p:spPr>
          <a:xfrm>
            <a:off x="1325880" y="2980944"/>
            <a:ext cx="4480560" cy="320040"/>
          </a:xfrm>
          <a:prstGeom prst="rect">
            <a:avLst/>
          </a:prstGeom>
          <a:noFill/>
        </p:spPr>
        <p:txBody>
          <a:bodyPr wrap="square" anchor="t" lIns="0" rIns="0" tIns="0" bIns="0">
            <a:spAutoFit/>
          </a:bodyPr>
          <a:lstStyle/>
          <a:p>
            <a:pPr algn="l"/>
            <a:r>
              <a:rPr sz="1600" b="1" i="0">
                <a:solidFill>
                  <a:srgbClr val="FFFFFF"/>
                </a:solidFill>
                <a:latin typeface="Calibri"/>
              </a:rPr>
              <a:t>Fix the support loop</a:t>
            </a:r>
          </a:p>
        </p:txBody>
      </p:sp>
      <p:sp>
        <p:nvSpPr>
          <p:cNvPr id="15" name="TextBox 14"/>
          <p:cNvSpPr txBox="1"/>
          <p:nvPr/>
        </p:nvSpPr>
        <p:spPr>
          <a:xfrm>
            <a:off x="1325880" y="3310128"/>
            <a:ext cx="4480560" cy="548640"/>
          </a:xfrm>
          <a:prstGeom prst="rect">
            <a:avLst/>
          </a:prstGeom>
          <a:noFill/>
        </p:spPr>
        <p:txBody>
          <a:bodyPr wrap="square" anchor="t" lIns="0" rIns="0" tIns="0" bIns="0">
            <a:spAutoFit/>
          </a:bodyPr>
          <a:lstStyle/>
          <a:p>
            <a:pPr algn="l"/>
            <a:r>
              <a:rPr sz="1200" b="0" i="0">
                <a:solidFill>
                  <a:srgbClr val="BFE3CF"/>
                </a:solidFill>
                <a:latin typeface="Calibri"/>
              </a:rPr>
              <a:t>Close tickets within the 2-month window; prioritise model-flagged members</a:t>
            </a:r>
          </a:p>
        </p:txBody>
      </p:sp>
      <p:sp>
        <p:nvSpPr>
          <p:cNvPr id="16" name="Rounded Rectangle 15"/>
          <p:cNvSpPr/>
          <p:nvPr/>
        </p:nvSpPr>
        <p:spPr>
          <a:xfrm>
            <a:off x="6172200" y="2852928"/>
            <a:ext cx="5440680" cy="1051560"/>
          </a:xfrm>
          <a:prstGeom prst="roundRect">
            <a:avLst>
              <a:gd name="adj" fmla="val 8000"/>
            </a:avLst>
          </a:prstGeom>
          <a:solidFill>
            <a:srgbClr val="224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3368" y="3154680"/>
            <a:ext cx="384048" cy="384048"/>
          </a:xfrm>
          <a:prstGeom prst="ellipse">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8" name="TextBox 17"/>
          <p:cNvSpPr txBox="1"/>
          <p:nvPr/>
        </p:nvSpPr>
        <p:spPr>
          <a:xfrm>
            <a:off x="6949440" y="2980944"/>
            <a:ext cx="4480560" cy="320040"/>
          </a:xfrm>
          <a:prstGeom prst="rect">
            <a:avLst/>
          </a:prstGeom>
          <a:noFill/>
        </p:spPr>
        <p:txBody>
          <a:bodyPr wrap="square" anchor="t" lIns="0" rIns="0" tIns="0" bIns="0">
            <a:spAutoFit/>
          </a:bodyPr>
          <a:lstStyle/>
          <a:p>
            <a:pPr algn="l"/>
            <a:r>
              <a:rPr sz="1600" b="1" i="0">
                <a:solidFill>
                  <a:srgbClr val="FFFFFF"/>
                </a:solidFill>
                <a:latin typeface="Calibri"/>
              </a:rPr>
              <a:t>Free nudges first</a:t>
            </a:r>
          </a:p>
        </p:txBody>
      </p:sp>
      <p:sp>
        <p:nvSpPr>
          <p:cNvPr id="19" name="TextBox 18"/>
          <p:cNvSpPr txBox="1"/>
          <p:nvPr/>
        </p:nvSpPr>
        <p:spPr>
          <a:xfrm>
            <a:off x="6949440" y="3310128"/>
            <a:ext cx="4480560" cy="548640"/>
          </a:xfrm>
          <a:prstGeom prst="rect">
            <a:avLst/>
          </a:prstGeom>
          <a:noFill/>
        </p:spPr>
        <p:txBody>
          <a:bodyPr wrap="square" anchor="t" lIns="0" rIns="0" tIns="0" bIns="0">
            <a:spAutoFit/>
          </a:bodyPr>
          <a:lstStyle/>
          <a:p>
            <a:pPr algn="l"/>
            <a:r>
              <a:rPr sz="1200" b="0" i="0">
                <a:solidFill>
                  <a:srgbClr val="BFE3CF"/>
                </a:solidFill>
                <a:latin typeface="Calibri"/>
              </a:rPr>
              <a:t>Spend drop of 40%+ or app use under 0.5/month triggers app push and preferred-category content</a:t>
            </a:r>
          </a:p>
        </p:txBody>
      </p:sp>
      <p:sp>
        <p:nvSpPr>
          <p:cNvPr id="20" name="Rounded Rectangle 19"/>
          <p:cNvSpPr/>
          <p:nvPr/>
        </p:nvSpPr>
        <p:spPr>
          <a:xfrm>
            <a:off x="548640" y="4059936"/>
            <a:ext cx="5440680" cy="1051560"/>
          </a:xfrm>
          <a:prstGeom prst="roundRect">
            <a:avLst>
              <a:gd name="adj" fmla="val 8000"/>
            </a:avLst>
          </a:prstGeom>
          <a:solidFill>
            <a:srgbClr val="224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49808" y="4361688"/>
            <a:ext cx="384048" cy="384048"/>
          </a:xfrm>
          <a:prstGeom prst="ellipse">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22" name="TextBox 21"/>
          <p:cNvSpPr txBox="1"/>
          <p:nvPr/>
        </p:nvSpPr>
        <p:spPr>
          <a:xfrm>
            <a:off x="1325880" y="4187952"/>
            <a:ext cx="4480560" cy="320040"/>
          </a:xfrm>
          <a:prstGeom prst="rect">
            <a:avLst/>
          </a:prstGeom>
          <a:noFill/>
        </p:spPr>
        <p:txBody>
          <a:bodyPr wrap="square" anchor="t" lIns="0" rIns="0" tIns="0" bIns="0">
            <a:spAutoFit/>
          </a:bodyPr>
          <a:lstStyle/>
          <a:p>
            <a:pPr algn="l"/>
            <a:r>
              <a:rPr sz="1600" b="1" i="0">
                <a:solidFill>
                  <a:srgbClr val="FFFFFF"/>
                </a:solidFill>
                <a:latin typeface="Calibri"/>
              </a:rPr>
              <a:t>Rethink tier perks</a:t>
            </a:r>
          </a:p>
        </p:txBody>
      </p:sp>
      <p:sp>
        <p:nvSpPr>
          <p:cNvPr id="23" name="TextBox 22"/>
          <p:cNvSpPr txBox="1"/>
          <p:nvPr/>
        </p:nvSpPr>
        <p:spPr>
          <a:xfrm>
            <a:off x="1325880" y="4517136"/>
            <a:ext cx="4480560" cy="548640"/>
          </a:xfrm>
          <a:prstGeom prst="rect">
            <a:avLst/>
          </a:prstGeom>
          <a:noFill/>
        </p:spPr>
        <p:txBody>
          <a:bodyPr wrap="square" anchor="t" lIns="0" rIns="0" tIns="0" bIns="0">
            <a:spAutoFit/>
          </a:bodyPr>
          <a:lstStyle/>
          <a:p>
            <a:pPr algn="l"/>
            <a:r>
              <a:rPr sz="1200" b="0" i="0">
                <a:solidFill>
                  <a:srgbClr val="BFE3CF"/>
                </a:solidFill>
                <a:latin typeface="Calibri"/>
              </a:rPr>
              <a:t>Platinum ≠ loyal: pilot engagement-based rewards, not spend-only tiers</a:t>
            </a:r>
          </a:p>
        </p:txBody>
      </p:sp>
      <p:sp>
        <p:nvSpPr>
          <p:cNvPr id="24" name="Rounded Rectangle 23"/>
          <p:cNvSpPr/>
          <p:nvPr/>
        </p:nvSpPr>
        <p:spPr>
          <a:xfrm>
            <a:off x="6172200" y="4059936"/>
            <a:ext cx="5440680" cy="1051560"/>
          </a:xfrm>
          <a:prstGeom prst="roundRect">
            <a:avLst>
              <a:gd name="adj" fmla="val 8000"/>
            </a:avLst>
          </a:prstGeom>
          <a:solidFill>
            <a:srgbClr val="224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73368" y="4361688"/>
            <a:ext cx="384048" cy="384048"/>
          </a:xfrm>
          <a:prstGeom prst="ellipse">
            <a:avLst/>
          </a:prstGeom>
          <a:solidFill>
            <a:srgbClr val="2E7D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26" name="TextBox 25"/>
          <p:cNvSpPr txBox="1"/>
          <p:nvPr/>
        </p:nvSpPr>
        <p:spPr>
          <a:xfrm>
            <a:off x="6949440" y="4187952"/>
            <a:ext cx="4480560" cy="320040"/>
          </a:xfrm>
          <a:prstGeom prst="rect">
            <a:avLst/>
          </a:prstGeom>
          <a:noFill/>
        </p:spPr>
        <p:txBody>
          <a:bodyPr wrap="square" anchor="t" lIns="0" rIns="0" tIns="0" bIns="0">
            <a:spAutoFit/>
          </a:bodyPr>
          <a:lstStyle/>
          <a:p>
            <a:pPr algn="l"/>
            <a:r>
              <a:rPr sz="1600" b="1" i="0">
                <a:solidFill>
                  <a:srgbClr val="FFFFFF"/>
                </a:solidFill>
                <a:latin typeface="Calibri"/>
              </a:rPr>
              <a:t>Prove it</a:t>
            </a:r>
          </a:p>
        </p:txBody>
      </p:sp>
      <p:sp>
        <p:nvSpPr>
          <p:cNvPr id="27" name="TextBox 26"/>
          <p:cNvSpPr txBox="1"/>
          <p:nvPr/>
        </p:nvSpPr>
        <p:spPr>
          <a:xfrm>
            <a:off x="6949440" y="4517136"/>
            <a:ext cx="4480560" cy="548640"/>
          </a:xfrm>
          <a:prstGeom prst="rect">
            <a:avLst/>
          </a:prstGeom>
          <a:noFill/>
        </p:spPr>
        <p:txBody>
          <a:bodyPr wrap="square" anchor="t" lIns="0" rIns="0" tIns="0" bIns="0">
            <a:spAutoFit/>
          </a:bodyPr>
          <a:lstStyle/>
          <a:p>
            <a:pPr algn="l"/>
            <a:r>
              <a:rPr sz="1200" b="0" i="0">
                <a:solidFill>
                  <a:srgbClr val="BFE3CF"/>
                </a:solidFill>
                <a:latin typeface="Calibri"/>
              </a:rPr>
              <a:t>20% hold-out: ~729 flagged members detect a 15% uplift; replace assumptions with measurements</a:t>
            </a:r>
          </a:p>
        </p:txBody>
      </p:sp>
      <p:sp>
        <p:nvSpPr>
          <p:cNvPr id="28" name="TextBox 27"/>
          <p:cNvSpPr txBox="1"/>
          <p:nvPr/>
        </p:nvSpPr>
        <p:spPr>
          <a:xfrm>
            <a:off x="548640" y="5440680"/>
            <a:ext cx="11064240" cy="731520"/>
          </a:xfrm>
          <a:prstGeom prst="rect">
            <a:avLst/>
          </a:prstGeom>
          <a:noFill/>
        </p:spPr>
        <p:txBody>
          <a:bodyPr wrap="square" anchor="t" lIns="0" rIns="0" tIns="0" bIns="0">
            <a:spAutoFit/>
          </a:bodyPr>
          <a:lstStyle/>
          <a:p>
            <a:pPr algn="l"/>
            <a:r>
              <a:rPr sz="1300" b="1" i="0">
                <a:solidFill>
                  <a:srgbClr val="FFFFFF"/>
                </a:solidFill>
                <a:latin typeface="Calibri"/>
              </a:rPr>
              <a:t>Production path on the Tailwyndz stack:  </a:t>
            </a:r>
            <a:r>
              <a:rPr sz="1300" b="0" i="0">
                <a:solidFill>
                  <a:srgbClr val="BFE3CF"/>
                </a:solidFill>
                <a:latin typeface="Calibri"/>
              </a:rPr>
              <a:t>Azure Data Factory → Delta (Databricks) → PySpark features → MLflow champion model → CRM queue + Dash Retention Console (Databricks Apps)  ·  monitor PR-AUC, calibration &amp; PSI drift monthly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